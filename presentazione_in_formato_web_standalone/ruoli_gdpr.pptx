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pratitolo"/>
          <p:cNvSpPr txBox="1"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3" name="Titolo"/>
          <p:cNvSpPr txBox="1"/>
          <p:nvPr/>
        </p:nvSpPr>
        <p:spPr>
          <a:xfrm>
            <a:off x="548640" y="594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Ruoli del GDPR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0" y="822960"/>
            <a:ext cx="146304" cy="146304"/>
          </a:xfrm>
          <a:prstGeom prst="ellipse">
            <a:avLst/>
          </a:prstGeom>
          <a:solidFill>
            <a:srgbClr val="0F2A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87568" y="7498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Decidono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583680" y="822960"/>
            <a:ext cx="146304" cy="146304"/>
          </a:xfrm>
          <a:prstGeom prst="ellipse">
            <a:avLst/>
          </a:prstGeom>
          <a:solidFill>
            <a:srgbClr val="0E8F8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84848" y="74980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Trattano i dati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822960"/>
            <a:ext cx="146304" cy="146304"/>
          </a:xfrm>
          <a:prstGeom prst="ellipse">
            <a:avLst/>
          </a:prstGeom>
          <a:solidFill>
            <a:srgbClr val="C97B0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339328" y="7498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Vigilano e consigliano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149840" y="822960"/>
            <a:ext cx="146304" cy="146304"/>
          </a:xfrm>
          <a:prstGeom prst="ellipse">
            <a:avLst/>
          </a:prstGeom>
          <a:solidFill>
            <a:srgbClr val="6B4FC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351008" y="7498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Tutelato</a:t>
            </a:r>
            <a:endParaRPr lang="en-US" sz="1200" dirty="0"/>
          </a:p>
        </p:txBody>
      </p:sp>
      <p:sp>
        <p:nvSpPr>
          <p:cNvPr id="12" name="Card Titolare del trattamento"/>
          <p:cNvSpPr/>
          <p:nvPr/>
        </p:nvSpPr>
        <p:spPr>
          <a:xfrm>
            <a:off x="548640" y="1417320"/>
            <a:ext cx="3575304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846">
                <a:alpha val="16000"/>
              </a:srgbClr>
            </a:outerShdw>
          </a:effectLst>
        </p:spPr>
      </p:sp>
      <p:sp>
        <p:nvSpPr>
          <p:cNvPr id="13" name="Cerchio Titolare del trattamento"/>
          <p:cNvSpPr/>
          <p:nvPr/>
        </p:nvSpPr>
        <p:spPr>
          <a:xfrm>
            <a:off x="777240" y="1618488"/>
            <a:ext cx="566928" cy="566928"/>
          </a:xfrm>
          <a:prstGeom prst="ellipse">
            <a:avLst/>
          </a:prstGeom>
          <a:solidFill>
            <a:srgbClr val="E1E8F3"/>
          </a:solidFill>
          <a:ln/>
        </p:spPr>
      </p:sp>
      <p:pic>
        <p:nvPicPr>
          <p:cNvPr id="14" name="Icona Titolare del trattament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3936"/>
            <a:ext cx="256032" cy="256032"/>
          </a:xfrm>
          <a:prstGeom prst="rect">
            <a:avLst/>
          </a:prstGeom>
        </p:spPr>
      </p:pic>
      <p:sp>
        <p:nvSpPr>
          <p:cNvPr id="15" name="Riferimento Titolare del trattamento"/>
          <p:cNvSpPr txBox="1"/>
          <p:nvPr/>
        </p:nvSpPr>
        <p:spPr>
          <a:xfrm>
            <a:off x="1444752" y="161848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4, n. 7; Artt. 24, 25</a:t>
            </a:r>
            <a:endParaRPr lang="en-US" sz="1000" dirty="0"/>
          </a:p>
        </p:txBody>
      </p:sp>
      <p:sp>
        <p:nvSpPr>
          <p:cNvPr id="16" name="Nome Titolare del trattamento"/>
          <p:cNvSpPr txBox="1"/>
          <p:nvPr/>
        </p:nvSpPr>
        <p:spPr>
          <a:xfrm>
            <a:off x="777240" y="2286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Titolare del trattamento</a:t>
            </a:r>
            <a:endParaRPr lang="en-US" sz="1800" dirty="0"/>
          </a:p>
        </p:txBody>
      </p:sp>
      <p:sp>
        <p:nvSpPr>
          <p:cNvPr id="17" name="Inglese Titolare del trattamento"/>
          <p:cNvSpPr txBox="1"/>
          <p:nvPr/>
        </p:nvSpPr>
        <p:spPr>
          <a:xfrm>
            <a:off x="777240" y="2624328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Controller</a:t>
            </a:r>
            <a:endParaRPr lang="en-US" sz="1100" dirty="0"/>
          </a:p>
        </p:txBody>
      </p:sp>
      <p:sp>
        <p:nvSpPr>
          <p:cNvPr id="18" name="Testo Titolare del trattamento"/>
          <p:cNvSpPr txBox="1"/>
          <p:nvPr/>
        </p:nvSpPr>
        <p:spPr>
          <a:xfrm>
            <a:off x="777240" y="2898648"/>
            <a:ext cx="31181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fisica, giuridica o autorità pubblica che determina finalità e mezzi del trattamento. Ha la responsabilità generale di conformità e sicurezza dei dati.</a:t>
            </a:r>
            <a:endParaRPr lang="en-US" sz="1200" dirty="0"/>
          </a:p>
        </p:txBody>
      </p:sp>
      <p:sp>
        <p:nvSpPr>
          <p:cNvPr id="19" name="Card Contitolari del trattamento"/>
          <p:cNvSpPr/>
          <p:nvPr/>
        </p:nvSpPr>
        <p:spPr>
          <a:xfrm>
            <a:off x="4306824" y="1417320"/>
            <a:ext cx="3575304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846">
                <a:alpha val="16000"/>
              </a:srgbClr>
            </a:outerShdw>
          </a:effectLst>
        </p:spPr>
      </p:sp>
      <p:sp>
        <p:nvSpPr>
          <p:cNvPr id="20" name="Cerchio Contitolari del trattamento"/>
          <p:cNvSpPr/>
          <p:nvPr/>
        </p:nvSpPr>
        <p:spPr>
          <a:xfrm>
            <a:off x="4535424" y="1618488"/>
            <a:ext cx="566928" cy="566928"/>
          </a:xfrm>
          <a:prstGeom prst="ellipse">
            <a:avLst/>
          </a:prstGeom>
          <a:solidFill>
            <a:srgbClr val="E1E8F3"/>
          </a:solidFill>
          <a:ln/>
        </p:spPr>
      </p:sp>
      <p:pic>
        <p:nvPicPr>
          <p:cNvPr id="21" name="Icona Contitolari del trattament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773936"/>
            <a:ext cx="256032" cy="256032"/>
          </a:xfrm>
          <a:prstGeom prst="rect">
            <a:avLst/>
          </a:prstGeom>
        </p:spPr>
      </p:pic>
      <p:sp>
        <p:nvSpPr>
          <p:cNvPr id="22" name="Riferimento Contitolari del trattamento"/>
          <p:cNvSpPr txBox="1"/>
          <p:nvPr/>
        </p:nvSpPr>
        <p:spPr>
          <a:xfrm>
            <a:off x="5202936" y="161848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26</a:t>
            </a:r>
            <a:endParaRPr lang="en-US" sz="1000" dirty="0"/>
          </a:p>
        </p:txBody>
      </p:sp>
      <p:sp>
        <p:nvSpPr>
          <p:cNvPr id="23" name="Nome Contitolari del trattamento"/>
          <p:cNvSpPr txBox="1"/>
          <p:nvPr/>
        </p:nvSpPr>
        <p:spPr>
          <a:xfrm>
            <a:off x="4535424" y="2286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Contitolari del trattamento</a:t>
            </a:r>
            <a:endParaRPr lang="en-US" sz="1800" dirty="0"/>
          </a:p>
        </p:txBody>
      </p:sp>
      <p:sp>
        <p:nvSpPr>
          <p:cNvPr id="24" name="Inglese Contitolari del trattamento"/>
          <p:cNvSpPr txBox="1"/>
          <p:nvPr/>
        </p:nvSpPr>
        <p:spPr>
          <a:xfrm>
            <a:off x="4535424" y="2624328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Controllers</a:t>
            </a:r>
            <a:endParaRPr lang="en-US" sz="1100" dirty="0"/>
          </a:p>
        </p:txBody>
      </p:sp>
      <p:sp>
        <p:nvSpPr>
          <p:cNvPr id="25" name="Testo Contitolari del trattamento"/>
          <p:cNvSpPr txBox="1"/>
          <p:nvPr/>
        </p:nvSpPr>
        <p:spPr>
          <a:xfrm>
            <a:off x="4535424" y="2898648"/>
            <a:ext cx="31181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o più titolari che determinano congiuntamente finalità e mezzi del trattamento, mediante un accordo trasparente.</a:t>
            </a:r>
            <a:endParaRPr lang="en-US" sz="1200" dirty="0"/>
          </a:p>
        </p:txBody>
      </p:sp>
      <p:sp>
        <p:nvSpPr>
          <p:cNvPr id="26" name="Card Responsabile del trattamento"/>
          <p:cNvSpPr/>
          <p:nvPr/>
        </p:nvSpPr>
        <p:spPr>
          <a:xfrm>
            <a:off x="8065008" y="1417320"/>
            <a:ext cx="3575304" cy="246888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846">
                <a:alpha val="16000"/>
              </a:srgbClr>
            </a:outerShdw>
          </a:effectLst>
        </p:spPr>
      </p:sp>
      <p:sp>
        <p:nvSpPr>
          <p:cNvPr id="27" name="Cerchio Responsabile del trattamento"/>
          <p:cNvSpPr/>
          <p:nvPr/>
        </p:nvSpPr>
        <p:spPr>
          <a:xfrm>
            <a:off x="8293608" y="1618488"/>
            <a:ext cx="566928" cy="566928"/>
          </a:xfrm>
          <a:prstGeom prst="ellipse">
            <a:avLst/>
          </a:prstGeom>
          <a:solidFill>
            <a:srgbClr val="DDF3F0"/>
          </a:solidFill>
          <a:ln/>
        </p:spPr>
      </p:sp>
      <p:pic>
        <p:nvPicPr>
          <p:cNvPr id="28" name="Icona Responsabile del trattament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056" y="1773936"/>
            <a:ext cx="256032" cy="256032"/>
          </a:xfrm>
          <a:prstGeom prst="rect">
            <a:avLst/>
          </a:prstGeom>
        </p:spPr>
      </p:pic>
      <p:sp>
        <p:nvSpPr>
          <p:cNvPr id="29" name="Riferimento Responsabile del trattamento"/>
          <p:cNvSpPr txBox="1"/>
          <p:nvPr/>
        </p:nvSpPr>
        <p:spPr>
          <a:xfrm>
            <a:off x="8961120" y="1618488"/>
            <a:ext cx="2478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4, n. 8; Art. 28</a:t>
            </a:r>
            <a:endParaRPr lang="en-US" sz="1000" dirty="0"/>
          </a:p>
        </p:txBody>
      </p:sp>
      <p:sp>
        <p:nvSpPr>
          <p:cNvPr id="30" name="Nome Responsabile del trattamento"/>
          <p:cNvSpPr txBox="1"/>
          <p:nvPr/>
        </p:nvSpPr>
        <p:spPr>
          <a:xfrm>
            <a:off x="8293608" y="2286000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Responsabile del trattamento</a:t>
            </a:r>
            <a:endParaRPr lang="en-US" sz="1800" dirty="0"/>
          </a:p>
        </p:txBody>
      </p:sp>
      <p:sp>
        <p:nvSpPr>
          <p:cNvPr id="31" name="Inglese Responsabile del trattamento"/>
          <p:cNvSpPr txBox="1"/>
          <p:nvPr/>
        </p:nvSpPr>
        <p:spPr>
          <a:xfrm>
            <a:off x="8293608" y="2624328"/>
            <a:ext cx="3118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Processor</a:t>
            </a:r>
            <a:endParaRPr lang="en-US" sz="1100" dirty="0"/>
          </a:p>
        </p:txBody>
      </p:sp>
      <p:sp>
        <p:nvSpPr>
          <p:cNvPr id="32" name="Testo Responsabile del trattamento"/>
          <p:cNvSpPr txBox="1"/>
          <p:nvPr/>
        </p:nvSpPr>
        <p:spPr>
          <a:xfrm>
            <a:off x="8293608" y="2898648"/>
            <a:ext cx="311810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Soggetto esterno che tratta i dati per conto del Titolare sulla base di un contratto o atto giuridico. Deve offrire garanzie sufficienti di sicurezza.</a:t>
            </a:r>
            <a:endParaRPr lang="en-US" sz="1200" dirty="0"/>
          </a:p>
        </p:txBody>
      </p:sp>
      <p:sp>
        <p:nvSpPr>
          <p:cNvPr id="33" name="Card Soggetti Autorizzati / Incaricati"/>
          <p:cNvSpPr/>
          <p:nvPr/>
        </p:nvSpPr>
        <p:spPr>
          <a:xfrm>
            <a:off x="548640" y="4069080"/>
            <a:ext cx="2635758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846">
                <a:alpha val="16000"/>
              </a:srgbClr>
            </a:outerShdw>
          </a:effectLst>
        </p:spPr>
      </p:sp>
      <p:sp>
        <p:nvSpPr>
          <p:cNvPr id="34" name="Cerchio Soggetti Autorizzati / Incaricati"/>
          <p:cNvSpPr/>
          <p:nvPr/>
        </p:nvSpPr>
        <p:spPr>
          <a:xfrm>
            <a:off x="777240" y="4270248"/>
            <a:ext cx="566928" cy="566928"/>
          </a:xfrm>
          <a:prstGeom prst="ellipse">
            <a:avLst/>
          </a:prstGeom>
          <a:solidFill>
            <a:srgbClr val="DDF3F0"/>
          </a:solidFill>
          <a:ln/>
        </p:spPr>
      </p:sp>
      <p:pic>
        <p:nvPicPr>
          <p:cNvPr id="35" name="Icona Soggetti Autorizzati / Incaricat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425696"/>
            <a:ext cx="256032" cy="256032"/>
          </a:xfrm>
          <a:prstGeom prst="rect">
            <a:avLst/>
          </a:prstGeom>
        </p:spPr>
      </p:pic>
      <p:sp>
        <p:nvSpPr>
          <p:cNvPr id="36" name="Riferimento Soggetti Autorizzati / Incaricati"/>
          <p:cNvSpPr txBox="1"/>
          <p:nvPr/>
        </p:nvSpPr>
        <p:spPr>
          <a:xfrm>
            <a:off x="1444752" y="4270248"/>
            <a:ext cx="15384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29; Art. 2-quaterdecies Cod. Privacy</a:t>
            </a:r>
            <a:endParaRPr lang="en-US" sz="1000" dirty="0"/>
          </a:p>
        </p:txBody>
      </p:sp>
      <p:sp>
        <p:nvSpPr>
          <p:cNvPr id="37" name="Nome Soggetti Autorizzati / Incaricati"/>
          <p:cNvSpPr txBox="1"/>
          <p:nvPr/>
        </p:nvSpPr>
        <p:spPr>
          <a:xfrm>
            <a:off x="777240" y="493776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Soggetti Autorizzati / Incaricati</a:t>
            </a:r>
            <a:endParaRPr lang="en-US" sz="1500" dirty="0"/>
          </a:p>
        </p:txBody>
      </p:sp>
      <p:sp>
        <p:nvSpPr>
          <p:cNvPr id="38" name="Testo Soggetti Autorizzati / Incaricati"/>
          <p:cNvSpPr txBox="1"/>
          <p:nvPr/>
        </p:nvSpPr>
        <p:spPr>
          <a:xfrm>
            <a:off x="777240" y="5440680"/>
            <a:ext cx="217855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 fisiche che operano sotto l’autorità del Titolare o del Responsabile (es. docenti, personale amministrativo) secondo specifiche istruzioni.</a:t>
            </a:r>
            <a:endParaRPr lang="en-US" sz="1050" dirty="0"/>
          </a:p>
        </p:txBody>
      </p:sp>
      <p:sp>
        <p:nvSpPr>
          <p:cNvPr id="39" name="Card DPO / RPD"/>
          <p:cNvSpPr/>
          <p:nvPr/>
        </p:nvSpPr>
        <p:spPr>
          <a:xfrm>
            <a:off x="3367278" y="4069080"/>
            <a:ext cx="2635758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846">
                <a:alpha val="16000"/>
              </a:srgbClr>
            </a:outerShdw>
          </a:effectLst>
        </p:spPr>
      </p:sp>
      <p:sp>
        <p:nvSpPr>
          <p:cNvPr id="40" name="Cerchio DPO / RPD"/>
          <p:cNvSpPr/>
          <p:nvPr/>
        </p:nvSpPr>
        <p:spPr>
          <a:xfrm>
            <a:off x="3595878" y="4270248"/>
            <a:ext cx="566928" cy="566928"/>
          </a:xfrm>
          <a:prstGeom prst="ellipse">
            <a:avLst/>
          </a:prstGeom>
          <a:solidFill>
            <a:srgbClr val="FDF0DA"/>
          </a:solidFill>
          <a:ln/>
        </p:spPr>
      </p:sp>
      <p:pic>
        <p:nvPicPr>
          <p:cNvPr id="41" name="Icona DPO / RP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1326" y="4425696"/>
            <a:ext cx="256032" cy="256032"/>
          </a:xfrm>
          <a:prstGeom prst="rect">
            <a:avLst/>
          </a:prstGeom>
        </p:spPr>
      </p:pic>
      <p:sp>
        <p:nvSpPr>
          <p:cNvPr id="42" name="Riferimento DPO / RPD"/>
          <p:cNvSpPr txBox="1"/>
          <p:nvPr/>
        </p:nvSpPr>
        <p:spPr>
          <a:xfrm>
            <a:off x="4263390" y="4270248"/>
            <a:ext cx="15384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7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Artt. 37–39</a:t>
            </a:r>
            <a:endParaRPr lang="en-US" sz="1000" dirty="0"/>
          </a:p>
        </p:txBody>
      </p:sp>
      <p:sp>
        <p:nvSpPr>
          <p:cNvPr id="43" name="Nome DPO / RPD"/>
          <p:cNvSpPr txBox="1"/>
          <p:nvPr/>
        </p:nvSpPr>
        <p:spPr>
          <a:xfrm>
            <a:off x="3595878" y="493776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/ RPD</a:t>
            </a:r>
            <a:endParaRPr lang="en-US" sz="1500" dirty="0"/>
          </a:p>
        </p:txBody>
      </p:sp>
      <p:sp>
        <p:nvSpPr>
          <p:cNvPr id="44" name="Inglese DPO / RPD"/>
          <p:cNvSpPr txBox="1"/>
          <p:nvPr/>
        </p:nvSpPr>
        <p:spPr>
          <a:xfrm>
            <a:off x="3595878" y="5440680"/>
            <a:ext cx="2178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7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Officer</a:t>
            </a:r>
            <a:endParaRPr lang="en-US" sz="1100" dirty="0"/>
          </a:p>
        </p:txBody>
      </p:sp>
      <p:sp>
        <p:nvSpPr>
          <p:cNvPr id="45" name="Testo DPO / RPD"/>
          <p:cNvSpPr txBox="1"/>
          <p:nvPr/>
        </p:nvSpPr>
        <p:spPr>
          <a:xfrm>
            <a:off x="3595878" y="5715000"/>
            <a:ext cx="217855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Figura indipendente di consulenza, sorveglianza e punto di contatto con Garante e interessati. Obbligatorio per le PA (scuole incluse) e per trattamenti su larga scala.</a:t>
            </a:r>
            <a:endParaRPr lang="en-US" sz="1050" dirty="0"/>
          </a:p>
        </p:txBody>
      </p:sp>
      <p:sp>
        <p:nvSpPr>
          <p:cNvPr id="46" name="Card Interessato"/>
          <p:cNvSpPr/>
          <p:nvPr/>
        </p:nvSpPr>
        <p:spPr>
          <a:xfrm>
            <a:off x="6185916" y="4069080"/>
            <a:ext cx="2635758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846">
                <a:alpha val="16000"/>
              </a:srgbClr>
            </a:outerShdw>
          </a:effectLst>
        </p:spPr>
      </p:sp>
      <p:sp>
        <p:nvSpPr>
          <p:cNvPr id="47" name="Cerchio Interessato"/>
          <p:cNvSpPr/>
          <p:nvPr/>
        </p:nvSpPr>
        <p:spPr>
          <a:xfrm>
            <a:off x="6414516" y="4270248"/>
            <a:ext cx="566928" cy="566928"/>
          </a:xfrm>
          <a:prstGeom prst="ellipse">
            <a:avLst/>
          </a:prstGeom>
          <a:solidFill>
            <a:srgbClr val="ECE7FA"/>
          </a:solidFill>
          <a:ln/>
        </p:spPr>
      </p:sp>
      <p:pic>
        <p:nvPicPr>
          <p:cNvPr id="48" name="Icona Interessat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964" y="4425696"/>
            <a:ext cx="256032" cy="256032"/>
          </a:xfrm>
          <a:prstGeom prst="rect">
            <a:avLst/>
          </a:prstGeom>
        </p:spPr>
      </p:pic>
      <p:sp>
        <p:nvSpPr>
          <p:cNvPr id="49" name="Riferimento Interessato"/>
          <p:cNvSpPr txBox="1"/>
          <p:nvPr/>
        </p:nvSpPr>
        <p:spPr>
          <a:xfrm>
            <a:off x="7082028" y="4270248"/>
            <a:ext cx="15384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4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Artt. 12–22</a:t>
            </a:r>
            <a:endParaRPr lang="en-US" sz="1000" dirty="0"/>
          </a:p>
        </p:txBody>
      </p:sp>
      <p:sp>
        <p:nvSpPr>
          <p:cNvPr id="50" name="Nome Interessato"/>
          <p:cNvSpPr txBox="1"/>
          <p:nvPr/>
        </p:nvSpPr>
        <p:spPr>
          <a:xfrm>
            <a:off x="6414516" y="493776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Interessato</a:t>
            </a:r>
            <a:endParaRPr lang="en-US" sz="1500" dirty="0"/>
          </a:p>
        </p:txBody>
      </p:sp>
      <p:sp>
        <p:nvSpPr>
          <p:cNvPr id="51" name="Testo Interessato"/>
          <p:cNvSpPr txBox="1"/>
          <p:nvPr/>
        </p:nvSpPr>
        <p:spPr>
          <a:xfrm>
            <a:off x="6414516" y="5440680"/>
            <a:ext cx="217855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fisica a cui si riferiscono i dati (es. studente, genitore, docente). Titolare dei diritti di accesso, rettifica, cancellazione, limitazione e opposizione.</a:t>
            </a:r>
            <a:endParaRPr lang="en-US" sz="1050" dirty="0"/>
          </a:p>
        </p:txBody>
      </p:sp>
      <p:sp>
        <p:nvSpPr>
          <p:cNvPr id="52" name="Card Autorità di Controllo"/>
          <p:cNvSpPr/>
          <p:nvPr/>
        </p:nvSpPr>
        <p:spPr>
          <a:xfrm>
            <a:off x="9004554" y="4069080"/>
            <a:ext cx="2635758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2700">
            <a:solidFill>
              <a:srgbClr val="D5DDE8"/>
            </a:solidFill>
            <a:prstDash val="solid"/>
          </a:ln>
          <a:effectLst>
            <a:outerShdw sx="100000" sy="100000" kx="0" ky="0" algn="bl" rotWithShape="0" blurRad="101600" dist="38100" dir="5400000">
              <a:srgbClr val="1E2846">
                <a:alpha val="16000"/>
              </a:srgbClr>
            </a:outerShdw>
          </a:effectLst>
        </p:spPr>
      </p:sp>
      <p:sp>
        <p:nvSpPr>
          <p:cNvPr id="53" name="Cerchio Autorità di Controllo"/>
          <p:cNvSpPr/>
          <p:nvPr/>
        </p:nvSpPr>
        <p:spPr>
          <a:xfrm>
            <a:off x="9233154" y="4270248"/>
            <a:ext cx="566928" cy="566928"/>
          </a:xfrm>
          <a:prstGeom prst="ellipse">
            <a:avLst/>
          </a:prstGeom>
          <a:solidFill>
            <a:srgbClr val="FDF0DA"/>
          </a:solidFill>
          <a:ln/>
        </p:spPr>
      </p:sp>
      <p:pic>
        <p:nvPicPr>
          <p:cNvPr id="54" name="Icona Autorità di Controllo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8602" y="4425696"/>
            <a:ext cx="256032" cy="256032"/>
          </a:xfrm>
          <a:prstGeom prst="rect">
            <a:avLst/>
          </a:prstGeom>
        </p:spPr>
      </p:pic>
      <p:sp>
        <p:nvSpPr>
          <p:cNvPr id="55" name="Riferimento Autorità di Controllo"/>
          <p:cNvSpPr txBox="1"/>
          <p:nvPr/>
        </p:nvSpPr>
        <p:spPr>
          <a:xfrm>
            <a:off x="9900666" y="4270248"/>
            <a:ext cx="15384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7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Artt. 51, 57, 58; Art. 2-bis Cod. Privacy</a:t>
            </a:r>
            <a:endParaRPr lang="en-US" sz="1000" dirty="0"/>
          </a:p>
        </p:txBody>
      </p:sp>
      <p:sp>
        <p:nvSpPr>
          <p:cNvPr id="56" name="Nome Autorità di Controllo"/>
          <p:cNvSpPr txBox="1"/>
          <p:nvPr/>
        </p:nvSpPr>
        <p:spPr>
          <a:xfrm>
            <a:off x="9233154" y="493776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Autorità di Controllo</a:t>
            </a:r>
            <a:endParaRPr lang="en-US" sz="1500" dirty="0"/>
          </a:p>
        </p:txBody>
      </p:sp>
      <p:sp>
        <p:nvSpPr>
          <p:cNvPr id="57" name="Inglese Autorità di Controllo"/>
          <p:cNvSpPr txBox="1"/>
          <p:nvPr/>
        </p:nvSpPr>
        <p:spPr>
          <a:xfrm>
            <a:off x="9233154" y="5440680"/>
            <a:ext cx="2178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7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Privacy</a:t>
            </a:r>
            <a:endParaRPr lang="en-US" sz="1100" dirty="0"/>
          </a:p>
        </p:txBody>
      </p:sp>
      <p:sp>
        <p:nvSpPr>
          <p:cNvPr id="58" name="Testo Autorità di Controllo"/>
          <p:cNvSpPr txBox="1"/>
          <p:nvPr/>
        </p:nvSpPr>
        <p:spPr>
          <a:xfrm>
            <a:off x="9233154" y="5715000"/>
            <a:ext cx="217855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Autorità pubblica indipendente (in Italia, il Garante) che vigila sull’applicazione del GDPR, gestisce i reclami e irroga sanzioni.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Ruoli del GDPR</dc:title>
  <dc:subject>PptxGenJS Presentation</dc:subject>
  <dc:creator>PptxGenJS</dc:creator>
  <cp:lastModifiedBy>PptxGenJS</cp:lastModifiedBy>
  <cp:revision>1</cp:revision>
  <dcterms:created xsi:type="dcterms:W3CDTF">2026-10-06T08:46:55Z</dcterms:created>
  <dcterms:modified xsi:type="dcterms:W3CDTF">2026-10-06T08:46:55Z</dcterms:modified>
</cp:coreProperties>
</file>