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 txBox="1"/>
          <p:nvPr/>
        </p:nvSpPr>
        <p:spPr>
          <a:xfrm>
            <a:off x="320040" y="164592"/>
            <a:ext cx="11548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ARCHITETTURA CHIAVE DEL GDPR: I TRE PILASTRI FONDAMENTALI</a:t>
            </a:r>
            <a:endParaRPr lang="en-US" sz="2800" dirty="0"/>
          </a:p>
        </p:txBody>
      </p:sp>
      <p:sp>
        <p:nvSpPr>
          <p:cNvPr id="3" name="Pilastro 1"/>
          <p:cNvSpPr/>
          <p:nvPr/>
        </p:nvSpPr>
        <p:spPr>
          <a:xfrm>
            <a:off x="320040" y="868680"/>
            <a:ext cx="3666744" cy="5486400"/>
          </a:xfrm>
          <a:prstGeom prst="roundRect">
            <a:avLst>
              <a:gd name="adj" fmla="val 6234"/>
            </a:avLst>
          </a:prstGeom>
          <a:solidFill>
            <a:srgbClr val="E3EBF7"/>
          </a:solidFill>
          <a:ln w="28575">
            <a:solidFill>
              <a:srgbClr val="2F5FAE"/>
            </a:solidFill>
            <a:prstDash val="solid"/>
          </a:ln>
        </p:spPr>
      </p:sp>
      <p:sp>
        <p:nvSpPr>
          <p:cNvPr id="4" name="Intestazione 1"/>
          <p:cNvSpPr/>
          <p:nvPr/>
        </p:nvSpPr>
        <p:spPr>
          <a:xfrm>
            <a:off x="457200" y="987552"/>
            <a:ext cx="3392424" cy="822960"/>
          </a:xfrm>
          <a:prstGeom prst="roundRect">
            <a:avLst>
              <a:gd name="adj" fmla="val 20000"/>
            </a:avLst>
          </a:prstGeom>
          <a:solidFill>
            <a:srgbClr val="C5D6EF"/>
          </a:solidFill>
          <a:ln w="25400">
            <a:solidFill>
              <a:srgbClr val="2F5FAE"/>
            </a:solidFill>
            <a:prstDash val="solid"/>
          </a:ln>
        </p:spPr>
      </p:sp>
      <p:pic>
        <p:nvPicPr>
          <p:cNvPr id="5" name="Icona pilastr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260" y="1097280"/>
            <a:ext cx="648000" cy="685800"/>
          </a:xfrm>
          <a:prstGeom prst="rect">
            <a:avLst/>
          </a:prstGeom>
        </p:spPr>
      </p:pic>
      <p:sp>
        <p:nvSpPr>
          <p:cNvPr id="6" name="Titolo pilastro 1"/>
          <p:cNvSpPr txBox="1"/>
          <p:nvPr/>
        </p:nvSpPr>
        <p:spPr>
          <a:xfrm>
            <a:off x="1280160" y="987552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PILASTRO 1: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RUOLI E RESPONSABILITÀ</a:t>
            </a:r>
            <a:endParaRPr lang="en-US" sz="1800" dirty="0"/>
          </a:p>
        </p:txBody>
      </p:sp>
      <p:sp>
        <p:nvSpPr>
          <p:cNvPr id="7" name="Card 1.1"/>
          <p:cNvSpPr/>
          <p:nvPr/>
        </p:nvSpPr>
        <p:spPr>
          <a:xfrm>
            <a:off x="457200" y="1947672"/>
            <a:ext cx="3392424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55C6B"/>
            </a:solidFill>
            <a:prstDash val="solid"/>
          </a:ln>
          <a:effectLst>
            <a:outerShdw sx="100000" sy="100000" kx="0" ky="0" algn="bl" rotWithShape="0" blurRad="76200" dist="38100" dir="5400000">
              <a:srgbClr val="1E2846">
                <a:alpha val="25000"/>
              </a:srgbClr>
            </a:outerShdw>
          </a:effectLst>
        </p:spPr>
      </p:sp>
      <p:sp>
        <p:nvSpPr>
          <p:cNvPr id="8" name="Titolo card 1.1"/>
          <p:cNvSpPr txBox="1"/>
          <p:nvPr/>
        </p:nvSpPr>
        <p:spPr>
          <a:xfrm>
            <a:off x="548640" y="199339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TITOLARE DEL TRATTAMENTO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(Data Controller)</a:t>
            </a:r>
            <a:endParaRPr lang="en-US" sz="1400" dirty="0"/>
          </a:p>
        </p:txBody>
      </p:sp>
      <p:pic>
        <p:nvPicPr>
          <p:cNvPr id="9" name="Icona card 1.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34" y="2542032"/>
            <a:ext cx="678956" cy="731520"/>
          </a:xfrm>
          <a:prstGeom prst="rect">
            <a:avLst/>
          </a:prstGeom>
        </p:spPr>
      </p:pic>
      <p:sp>
        <p:nvSpPr>
          <p:cNvPr id="10" name="Testo card 1.1"/>
          <p:cNvSpPr txBox="1"/>
          <p:nvPr/>
        </p:nvSpPr>
        <p:spPr>
          <a:xfrm>
            <a:off x="1508760" y="249631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Determina finalità e mezzi del trattamento.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È il principale responsabile della conformità.</a:t>
            </a:r>
            <a:endParaRPr lang="en-US" sz="1100" dirty="0"/>
          </a:p>
        </p:txBody>
      </p:sp>
      <p:sp>
        <p:nvSpPr>
          <p:cNvPr id="11" name="Card 1.2"/>
          <p:cNvSpPr/>
          <p:nvPr/>
        </p:nvSpPr>
        <p:spPr>
          <a:xfrm>
            <a:off x="457200" y="3429000"/>
            <a:ext cx="3392424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55C6B"/>
            </a:solidFill>
            <a:prstDash val="solid"/>
          </a:ln>
          <a:effectLst>
            <a:outerShdw sx="100000" sy="100000" kx="0" ky="0" algn="bl" rotWithShape="0" blurRad="76200" dist="38100" dir="5400000">
              <a:srgbClr val="1E2846">
                <a:alpha val="25000"/>
              </a:srgbClr>
            </a:outerShdw>
          </a:effectLst>
        </p:spPr>
      </p:sp>
      <p:sp>
        <p:nvSpPr>
          <p:cNvPr id="12" name="Titolo card 1.2"/>
          <p:cNvSpPr txBox="1"/>
          <p:nvPr/>
        </p:nvSpPr>
        <p:spPr>
          <a:xfrm>
            <a:off x="548640" y="347472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RESPONSABILE DEL TRATTAMENTO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(Data Processor)</a:t>
            </a:r>
            <a:endParaRPr lang="en-US" sz="1400" dirty="0"/>
          </a:p>
        </p:txBody>
      </p:sp>
      <p:pic>
        <p:nvPicPr>
          <p:cNvPr id="13" name="Icona card 1.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23" y="4023360"/>
            <a:ext cx="624177" cy="731520"/>
          </a:xfrm>
          <a:prstGeom prst="rect">
            <a:avLst/>
          </a:prstGeom>
        </p:spPr>
      </p:pic>
      <p:sp>
        <p:nvSpPr>
          <p:cNvPr id="14" name="Testo card 1.2"/>
          <p:cNvSpPr txBox="1"/>
          <p:nvPr/>
        </p:nvSpPr>
        <p:spPr>
          <a:xfrm>
            <a:off x="1508760" y="397764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Tratta i dati per conto del Titolare.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Agisce su istruzioni vincolanti e per contratto.</a:t>
            </a:r>
            <a:endParaRPr lang="en-US" sz="1100" dirty="0"/>
          </a:p>
        </p:txBody>
      </p:sp>
      <p:sp>
        <p:nvSpPr>
          <p:cNvPr id="15" name="Card 1.3"/>
          <p:cNvSpPr/>
          <p:nvPr/>
        </p:nvSpPr>
        <p:spPr>
          <a:xfrm>
            <a:off x="457200" y="4910328"/>
            <a:ext cx="3392424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55C6B"/>
            </a:solidFill>
            <a:prstDash val="solid"/>
          </a:ln>
          <a:effectLst>
            <a:outerShdw sx="100000" sy="100000" kx="0" ky="0" algn="bl" rotWithShape="0" blurRad="76200" dist="38100" dir="5400000">
              <a:srgbClr val="1E2846">
                <a:alpha val="25000"/>
              </a:srgbClr>
            </a:outerShdw>
          </a:effectLst>
        </p:spPr>
      </p:sp>
      <p:sp>
        <p:nvSpPr>
          <p:cNvPr id="16" name="Titolo card 1.3"/>
          <p:cNvSpPr txBox="1"/>
          <p:nvPr/>
        </p:nvSpPr>
        <p:spPr>
          <a:xfrm>
            <a:off x="548640" y="4956048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RESPONSABILE DELLA PROTEZIONE DATI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(DPO)</a:t>
            </a:r>
            <a:endParaRPr lang="en-US" sz="1400" dirty="0"/>
          </a:p>
        </p:txBody>
      </p:sp>
      <p:pic>
        <p:nvPicPr>
          <p:cNvPr id="17" name="Icona card 1.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93" y="5504688"/>
            <a:ext cx="664638" cy="731520"/>
          </a:xfrm>
          <a:prstGeom prst="rect">
            <a:avLst/>
          </a:prstGeom>
        </p:spPr>
      </p:pic>
      <p:sp>
        <p:nvSpPr>
          <p:cNvPr id="18" name="Testo card 1.3"/>
          <p:cNvSpPr txBox="1"/>
          <p:nvPr/>
        </p:nvSpPr>
        <p:spPr>
          <a:xfrm>
            <a:off x="1508760" y="5458968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Ruolo di supervisione e consulenza. Monitora la conformità, funge da punto di contatto.</a:t>
            </a:r>
            <a:endParaRPr lang="en-US" sz="1100" dirty="0"/>
          </a:p>
        </p:txBody>
      </p:sp>
      <p:sp>
        <p:nvSpPr>
          <p:cNvPr id="19" name="Pilastro 2"/>
          <p:cNvSpPr/>
          <p:nvPr/>
        </p:nvSpPr>
        <p:spPr>
          <a:xfrm>
            <a:off x="4261104" y="868680"/>
            <a:ext cx="3666744" cy="5486400"/>
          </a:xfrm>
          <a:prstGeom prst="roundRect">
            <a:avLst>
              <a:gd name="adj" fmla="val 6234"/>
            </a:avLst>
          </a:prstGeom>
          <a:solidFill>
            <a:srgbClr val="E0F1EC"/>
          </a:solidFill>
          <a:ln w="28575">
            <a:solidFill>
              <a:srgbClr val="3A9078"/>
            </a:solidFill>
            <a:prstDash val="solid"/>
          </a:ln>
        </p:spPr>
      </p:sp>
      <p:sp>
        <p:nvSpPr>
          <p:cNvPr id="20" name="Intestazione 2"/>
          <p:cNvSpPr/>
          <p:nvPr/>
        </p:nvSpPr>
        <p:spPr>
          <a:xfrm>
            <a:off x="4398264" y="987552"/>
            <a:ext cx="3392424" cy="822960"/>
          </a:xfrm>
          <a:prstGeom prst="roundRect">
            <a:avLst>
              <a:gd name="adj" fmla="val 20000"/>
            </a:avLst>
          </a:prstGeom>
          <a:solidFill>
            <a:srgbClr val="BFE5DA"/>
          </a:solidFill>
          <a:ln w="25400">
            <a:solidFill>
              <a:srgbClr val="3A9078"/>
            </a:solidFill>
            <a:prstDash val="solid"/>
          </a:ln>
        </p:spPr>
      </p:sp>
      <p:pic>
        <p:nvPicPr>
          <p:cNvPr id="21" name="Icona pilastro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1124933"/>
            <a:ext cx="685800" cy="630494"/>
          </a:xfrm>
          <a:prstGeom prst="rect">
            <a:avLst/>
          </a:prstGeom>
        </p:spPr>
      </p:pic>
      <p:sp>
        <p:nvSpPr>
          <p:cNvPr id="22" name="Titolo pilastro 2"/>
          <p:cNvSpPr txBox="1"/>
          <p:nvPr/>
        </p:nvSpPr>
        <p:spPr>
          <a:xfrm>
            <a:off x="5221224" y="987552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PILASTRO 2: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PROCEDURE E DIRITTI</a:t>
            </a:r>
            <a:endParaRPr lang="en-US" sz="1800" dirty="0"/>
          </a:p>
        </p:txBody>
      </p:sp>
      <p:sp>
        <p:nvSpPr>
          <p:cNvPr id="23" name="Card 2.1"/>
          <p:cNvSpPr/>
          <p:nvPr/>
        </p:nvSpPr>
        <p:spPr>
          <a:xfrm>
            <a:off x="4398264" y="1947672"/>
            <a:ext cx="3392424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55C6B"/>
            </a:solidFill>
            <a:prstDash val="solid"/>
          </a:ln>
          <a:effectLst>
            <a:outerShdw sx="100000" sy="100000" kx="0" ky="0" algn="bl" rotWithShape="0" blurRad="76200" dist="38100" dir="5400000">
              <a:srgbClr val="1E2846">
                <a:alpha val="25000"/>
              </a:srgbClr>
            </a:outerShdw>
          </a:effectLst>
        </p:spPr>
      </p:sp>
      <p:sp>
        <p:nvSpPr>
          <p:cNvPr id="24" name="Titolo card 2.1"/>
          <p:cNvSpPr txBox="1"/>
          <p:nvPr/>
        </p:nvSpPr>
        <p:spPr>
          <a:xfrm>
            <a:off x="4489704" y="199339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GESTIONE DEI DIRITTI DEGLI INTERESSATI</a:t>
            </a:r>
            <a:endParaRPr lang="en-US" sz="1400" dirty="0"/>
          </a:p>
        </p:txBody>
      </p:sp>
      <p:pic>
        <p:nvPicPr>
          <p:cNvPr id="25" name="Icona card 2.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5434" y="2542032"/>
            <a:ext cx="672084" cy="731520"/>
          </a:xfrm>
          <a:prstGeom prst="rect">
            <a:avLst/>
          </a:prstGeom>
        </p:spPr>
      </p:pic>
      <p:sp>
        <p:nvSpPr>
          <p:cNvPr id="26" name="Testo card 2.1"/>
          <p:cNvSpPr txBox="1"/>
          <p:nvPr/>
        </p:nvSpPr>
        <p:spPr>
          <a:xfrm>
            <a:off x="5449824" y="249631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Assicura risposte tempestive a richieste di: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Accesso, Rettifica, Cancellazione, Opposizione, Portabilità.</a:t>
            </a:r>
            <a:endParaRPr lang="en-US" sz="1100" dirty="0"/>
          </a:p>
        </p:txBody>
      </p:sp>
      <p:sp>
        <p:nvSpPr>
          <p:cNvPr id="27" name="Card 2.2"/>
          <p:cNvSpPr/>
          <p:nvPr/>
        </p:nvSpPr>
        <p:spPr>
          <a:xfrm>
            <a:off x="4398264" y="3429000"/>
            <a:ext cx="3392424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55C6B"/>
            </a:solidFill>
            <a:prstDash val="solid"/>
          </a:ln>
          <a:effectLst>
            <a:outerShdw sx="100000" sy="100000" kx="0" ky="0" algn="bl" rotWithShape="0" blurRad="76200" dist="38100" dir="5400000">
              <a:srgbClr val="1E2846">
                <a:alpha val="25000"/>
              </a:srgbClr>
            </a:outerShdw>
          </a:effectLst>
        </p:spPr>
      </p:sp>
      <p:sp>
        <p:nvSpPr>
          <p:cNvPr id="28" name="Titolo card 2.2"/>
          <p:cNvSpPr txBox="1"/>
          <p:nvPr/>
        </p:nvSpPr>
        <p:spPr>
          <a:xfrm>
            <a:off x="4489704" y="347472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CONFORMITÀ E DOCUMENTAZIONE</a:t>
            </a:r>
            <a:endParaRPr lang="en-US" sz="1400" dirty="0"/>
          </a:p>
        </p:txBody>
      </p:sp>
      <p:pic>
        <p:nvPicPr>
          <p:cNvPr id="29" name="Icona card 2.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439" y="4023360"/>
            <a:ext cx="708074" cy="731520"/>
          </a:xfrm>
          <a:prstGeom prst="rect">
            <a:avLst/>
          </a:prstGeom>
        </p:spPr>
      </p:pic>
      <p:sp>
        <p:nvSpPr>
          <p:cNvPr id="30" name="Testo card 2.2"/>
          <p:cNvSpPr txBox="1"/>
          <p:nvPr/>
        </p:nvSpPr>
        <p:spPr>
          <a:xfrm>
            <a:off x="5449824" y="397764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Implementa: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Registro delle attività di trattamento, Misure tecniche e organizzative, Principi di Privacy by Design e Default.</a:t>
            </a:r>
            <a:endParaRPr lang="en-US" sz="1100" dirty="0"/>
          </a:p>
        </p:txBody>
      </p:sp>
      <p:sp>
        <p:nvSpPr>
          <p:cNvPr id="31" name="Card 2.3"/>
          <p:cNvSpPr/>
          <p:nvPr/>
        </p:nvSpPr>
        <p:spPr>
          <a:xfrm>
            <a:off x="4398264" y="4910328"/>
            <a:ext cx="3392424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55C6B"/>
            </a:solidFill>
            <a:prstDash val="solid"/>
          </a:ln>
          <a:effectLst>
            <a:outerShdw sx="100000" sy="100000" kx="0" ky="0" algn="bl" rotWithShape="0" blurRad="76200" dist="38100" dir="5400000">
              <a:srgbClr val="1E2846">
                <a:alpha val="25000"/>
              </a:srgbClr>
            </a:outerShdw>
          </a:effectLst>
        </p:spPr>
      </p:sp>
      <p:sp>
        <p:nvSpPr>
          <p:cNvPr id="32" name="Titolo card 2.3"/>
          <p:cNvSpPr txBox="1"/>
          <p:nvPr/>
        </p:nvSpPr>
        <p:spPr>
          <a:xfrm>
            <a:off x="4489704" y="4956048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NOTIFICA VIOLAZIONI DATI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(Data Breach)</a:t>
            </a:r>
            <a:endParaRPr lang="en-US" sz="1400" dirty="0"/>
          </a:p>
        </p:txBody>
      </p:sp>
      <p:pic>
        <p:nvPicPr>
          <p:cNvPr id="33" name="Icona card 2.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3171" y="5504688"/>
            <a:ext cx="516610" cy="731520"/>
          </a:xfrm>
          <a:prstGeom prst="rect">
            <a:avLst/>
          </a:prstGeom>
        </p:spPr>
      </p:pic>
      <p:sp>
        <p:nvSpPr>
          <p:cNvPr id="34" name="Testo card 2.3"/>
          <p:cNvSpPr txBox="1"/>
          <p:nvPr/>
        </p:nvSpPr>
        <p:spPr>
          <a:xfrm>
            <a:off x="5449824" y="5458968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Informa l’Autorità di Controllo (entro 72h) e gli interessati (se necessario) in caso di violazione.</a:t>
            </a:r>
            <a:endParaRPr lang="en-US" sz="1100" dirty="0"/>
          </a:p>
        </p:txBody>
      </p:sp>
      <p:sp>
        <p:nvSpPr>
          <p:cNvPr id="35" name="Pilastro 3"/>
          <p:cNvSpPr/>
          <p:nvPr/>
        </p:nvSpPr>
        <p:spPr>
          <a:xfrm>
            <a:off x="8202168" y="868680"/>
            <a:ext cx="3666744" cy="5486400"/>
          </a:xfrm>
          <a:prstGeom prst="roundRect">
            <a:avLst>
              <a:gd name="adj" fmla="val 6234"/>
            </a:avLst>
          </a:prstGeom>
          <a:solidFill>
            <a:srgbClr val="FDEADB"/>
          </a:solidFill>
          <a:ln w="28575">
            <a:solidFill>
              <a:srgbClr val="E8803A"/>
            </a:solidFill>
            <a:prstDash val="solid"/>
          </a:ln>
        </p:spPr>
      </p:sp>
      <p:sp>
        <p:nvSpPr>
          <p:cNvPr id="36" name="Intestazione 3"/>
          <p:cNvSpPr/>
          <p:nvPr/>
        </p:nvSpPr>
        <p:spPr>
          <a:xfrm>
            <a:off x="8339328" y="987552"/>
            <a:ext cx="3392424" cy="822960"/>
          </a:xfrm>
          <a:prstGeom prst="roundRect">
            <a:avLst>
              <a:gd name="adj" fmla="val 20000"/>
            </a:avLst>
          </a:prstGeom>
          <a:solidFill>
            <a:srgbClr val="FBD8BD"/>
          </a:solidFill>
          <a:ln w="25400">
            <a:solidFill>
              <a:srgbClr val="E8803A"/>
            </a:solidFill>
            <a:prstDash val="solid"/>
          </a:ln>
        </p:spPr>
      </p:sp>
      <p:pic>
        <p:nvPicPr>
          <p:cNvPr id="37" name="Icona pilastro 3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6488" y="1103192"/>
            <a:ext cx="685800" cy="673976"/>
          </a:xfrm>
          <a:prstGeom prst="rect">
            <a:avLst/>
          </a:prstGeom>
        </p:spPr>
      </p:pic>
      <p:sp>
        <p:nvSpPr>
          <p:cNvPr id="38" name="Titolo pilastro 3"/>
          <p:cNvSpPr txBox="1"/>
          <p:nvPr/>
        </p:nvSpPr>
        <p:spPr>
          <a:xfrm>
            <a:off x="9162288" y="987552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PILASTRO 3: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GESTIONE RISCHI E SICUREZZA</a:t>
            </a:r>
            <a:endParaRPr lang="en-US" sz="1800" dirty="0"/>
          </a:p>
        </p:txBody>
      </p:sp>
      <p:sp>
        <p:nvSpPr>
          <p:cNvPr id="39" name="Card 3.1"/>
          <p:cNvSpPr/>
          <p:nvPr/>
        </p:nvSpPr>
        <p:spPr>
          <a:xfrm>
            <a:off x="8339328" y="1947672"/>
            <a:ext cx="3392424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55C6B"/>
            </a:solidFill>
            <a:prstDash val="solid"/>
          </a:ln>
          <a:effectLst>
            <a:outerShdw sx="100000" sy="100000" kx="0" ky="0" algn="bl" rotWithShape="0" blurRad="76200" dist="38100" dir="5400000">
              <a:srgbClr val="1E2846">
                <a:alpha val="25000"/>
              </a:srgbClr>
            </a:outerShdw>
          </a:effectLst>
        </p:spPr>
      </p:sp>
      <p:sp>
        <p:nvSpPr>
          <p:cNvPr id="40" name="Titolo card 3.1"/>
          <p:cNvSpPr txBox="1"/>
          <p:nvPr/>
        </p:nvSpPr>
        <p:spPr>
          <a:xfrm>
            <a:off x="8430768" y="199339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ANALISI PREVENTIVA DEI PERICOLI</a:t>
            </a:r>
            <a:endParaRPr lang="en-US" sz="1400" dirty="0"/>
          </a:p>
        </p:txBody>
      </p:sp>
      <p:pic>
        <p:nvPicPr>
          <p:cNvPr id="41" name="Icona card 3.1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21870" y="2542032"/>
            <a:ext cx="741339" cy="731520"/>
          </a:xfrm>
          <a:prstGeom prst="rect">
            <a:avLst/>
          </a:prstGeom>
        </p:spPr>
      </p:pic>
      <p:sp>
        <p:nvSpPr>
          <p:cNvPr id="42" name="Testo card 3.1"/>
          <p:cNvSpPr txBox="1"/>
          <p:nvPr/>
        </p:nvSpPr>
        <p:spPr>
          <a:xfrm>
            <a:off x="9390888" y="249631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Identifica e valuta i rischi per i diritti e le libertà degli interessati.</a:t>
            </a:r>
            <a:endParaRPr lang="en-US" sz="1100" dirty="0"/>
          </a:p>
        </p:txBody>
      </p:sp>
      <p:sp>
        <p:nvSpPr>
          <p:cNvPr id="43" name="Card 3.2"/>
          <p:cNvSpPr/>
          <p:nvPr/>
        </p:nvSpPr>
        <p:spPr>
          <a:xfrm>
            <a:off x="8339328" y="3429000"/>
            <a:ext cx="3392424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55C6B"/>
            </a:solidFill>
            <a:prstDash val="solid"/>
          </a:ln>
          <a:effectLst>
            <a:outerShdw sx="100000" sy="100000" kx="0" ky="0" algn="bl" rotWithShape="0" blurRad="76200" dist="38100" dir="5400000">
              <a:srgbClr val="1E2846">
                <a:alpha val="25000"/>
              </a:srgbClr>
            </a:outerShdw>
          </a:effectLst>
        </p:spPr>
      </p:sp>
      <p:sp>
        <p:nvSpPr>
          <p:cNvPr id="44" name="Titolo card 3.2"/>
          <p:cNvSpPr txBox="1"/>
          <p:nvPr/>
        </p:nvSpPr>
        <p:spPr>
          <a:xfrm>
            <a:off x="8430768" y="347472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VALUTAZIONE D’IMPATTO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(DPIA)</a:t>
            </a:r>
            <a:endParaRPr lang="en-US" sz="1400" dirty="0"/>
          </a:p>
        </p:txBody>
      </p:sp>
      <p:pic>
        <p:nvPicPr>
          <p:cNvPr id="45" name="Icona card 3.2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3994" y="4023360"/>
            <a:ext cx="617092" cy="731520"/>
          </a:xfrm>
          <a:prstGeom prst="rect">
            <a:avLst/>
          </a:prstGeom>
        </p:spPr>
      </p:pic>
      <p:sp>
        <p:nvSpPr>
          <p:cNvPr id="46" name="Testo card 3.2"/>
          <p:cNvSpPr txBox="1"/>
          <p:nvPr/>
        </p:nvSpPr>
        <p:spPr>
          <a:xfrm>
            <a:off x="9390888" y="397764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Obbligatoria per trattamenti ad alto rischio (es. nuove tecnologie, profilazione su larga scala).</a:t>
            </a:r>
            <a:endParaRPr lang="en-US" sz="1100" dirty="0"/>
          </a:p>
        </p:txBody>
      </p:sp>
      <p:sp>
        <p:nvSpPr>
          <p:cNvPr id="47" name="Card 3.3"/>
          <p:cNvSpPr/>
          <p:nvPr/>
        </p:nvSpPr>
        <p:spPr>
          <a:xfrm>
            <a:off x="8339328" y="4910328"/>
            <a:ext cx="3392424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55C6B"/>
            </a:solidFill>
            <a:prstDash val="solid"/>
          </a:ln>
          <a:effectLst>
            <a:outerShdw sx="100000" sy="100000" kx="0" ky="0" algn="bl" rotWithShape="0" blurRad="76200" dist="38100" dir="5400000">
              <a:srgbClr val="1E2846">
                <a:alpha val="25000"/>
              </a:srgbClr>
            </a:outerShdw>
          </a:effectLst>
        </p:spPr>
      </p:sp>
      <p:sp>
        <p:nvSpPr>
          <p:cNvPr id="48" name="Titolo card 3.3"/>
          <p:cNvSpPr txBox="1"/>
          <p:nvPr/>
        </p:nvSpPr>
        <p:spPr>
          <a:xfrm>
            <a:off x="8430768" y="4956048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MISURE DI SICUREZZA ADEGUATE</a:t>
            </a:r>
            <a:endParaRPr lang="en-US" sz="1400" dirty="0"/>
          </a:p>
        </p:txBody>
      </p:sp>
      <p:pic>
        <p:nvPicPr>
          <p:cNvPr id="49" name="Icona card 3.3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8115" y="5504688"/>
            <a:ext cx="628851" cy="731520"/>
          </a:xfrm>
          <a:prstGeom prst="rect">
            <a:avLst/>
          </a:prstGeom>
        </p:spPr>
      </p:pic>
      <p:sp>
        <p:nvSpPr>
          <p:cNvPr id="50" name="Testo card 3.3"/>
          <p:cNvSpPr txBox="1"/>
          <p:nvPr/>
        </p:nvSpPr>
        <p:spPr>
          <a:xfrm>
            <a:off x="9390888" y="5458968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Implementa: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Cifratura, Pseudonimizzazione, Controllo accessi, Test di efficacia, Resilienza dei sistemi.</a:t>
            </a:r>
            <a:endParaRPr lang="en-US" sz="1100" dirty="0"/>
          </a:p>
        </p:txBody>
      </p:sp>
      <p:sp>
        <p:nvSpPr>
          <p:cNvPr id="51" name="Nota"/>
          <p:cNvSpPr txBox="1"/>
          <p:nvPr/>
        </p:nvSpPr>
        <p:spPr>
          <a:xfrm>
            <a:off x="320040" y="6428232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NOTA: Questa infografica è una sintesi schematica. Consultare il testo completo del GDPR.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Architettura chiave del GDPR</dc:title>
  <dc:subject>PptxGenJS Presentation</dc:subject>
  <dc:creator>PptxGenJS</dc:creator>
  <cp:lastModifiedBy>PptxGenJS</cp:lastModifiedBy>
  <cp:revision>1</cp:revision>
  <dcterms:created xsi:type="dcterms:W3CDTF">2026-10-06T07:38:32Z</dcterms:created>
  <dcterms:modified xsi:type="dcterms:W3CDTF">2026-10-06T07:38:32Z</dcterms:modified>
</cp:coreProperties>
</file>