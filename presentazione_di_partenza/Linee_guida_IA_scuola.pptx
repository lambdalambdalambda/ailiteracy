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5143500" cy="9144000"/>
  <p:embeddedFontLst>
    <p:embeddedFont>
      <p:font typeface="Lato"/>
      <p:regular r:id="rId52"/>
      <p:bold r:id="rId53"/>
      <p:italic r:id="rId54"/>
      <p:boldItalic r:id="rId55"/>
    </p:embeddedFont>
    <p:embeddedFont>
      <p:font typeface="Merriweather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Alberto Carrar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Lato-bold.fntdata"/><Relationship Id="rId52" Type="http://schemas.openxmlformats.org/officeDocument/2006/relationships/font" Target="fonts/Lato-regular.fntdata"/><Relationship Id="rId11" Type="http://schemas.openxmlformats.org/officeDocument/2006/relationships/slide" Target="slides/slide6.xml"/><Relationship Id="rId55" Type="http://schemas.openxmlformats.org/officeDocument/2006/relationships/font" Target="fonts/Lato-boldItalic.fntdata"/><Relationship Id="rId10" Type="http://schemas.openxmlformats.org/officeDocument/2006/relationships/slide" Target="slides/slide5.xml"/><Relationship Id="rId54" Type="http://schemas.openxmlformats.org/officeDocument/2006/relationships/font" Target="fonts/Lato-italic.fntdata"/><Relationship Id="rId13" Type="http://schemas.openxmlformats.org/officeDocument/2006/relationships/slide" Target="slides/slide8.xml"/><Relationship Id="rId57" Type="http://schemas.openxmlformats.org/officeDocument/2006/relationships/font" Target="fonts/Merriweather-bold.fntdata"/><Relationship Id="rId12" Type="http://schemas.openxmlformats.org/officeDocument/2006/relationships/slide" Target="slides/slide7.xml"/><Relationship Id="rId56" Type="http://schemas.openxmlformats.org/officeDocument/2006/relationships/font" Target="fonts/Merriweather-regular.fntdata"/><Relationship Id="rId15" Type="http://schemas.openxmlformats.org/officeDocument/2006/relationships/slide" Target="slides/slide10.xml"/><Relationship Id="rId59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58" Type="http://schemas.openxmlformats.org/officeDocument/2006/relationships/font" Target="fonts/Merriweather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5T19:45:58.404">
    <p:pos x="4181" y="1447"/>
    <p:text>https://www.klark.ai/en/post/le-reglement-sur-lintelligence-artificielle-ria-et-son-impact-sur-le-service-client</p:text>
  </p:cm>
  <p:cm authorId="0" idx="2" dt="2026-10-05T19:46:42.194">
    <p:pos x="4340" y="788"/>
    <p:text>https://gdpr-text.com/it/cropped-gdpr-text-copy-of-logo-4-1-jpg/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Introduzione generale al corso formativo basato sul DM 9 agosto 2025, n. 166.</a:t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5517b05b28dcd531_1_419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h5517b05b28dcd531_1_41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h5517b05b28dcd531_1_419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h5517b05b28dcd531_1_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h5517b05b28dcd531_1_41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h5517b05b28dcd531_1_4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5517b05b28dcd531_1_49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h5517b05b28dcd531_1_49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h5517b05b28dcd531_1_49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h5517b05b28dcd531_1_4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h5517b05b28dcd531_1_49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h5517b05b28dcd531_1_4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5517b05b28dcd531_1_622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h5517b05b28dcd531_1_622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h5517b05b28dcd531_1_622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h5517b05b28dcd531_1_6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h5517b05b28dcd531_1_622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h5517b05b28dcd531_1_6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517b05b28dcd531_1_70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5517b05b28dcd531_1_70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h5517b05b28dcd531_1_70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h5517b05b28dcd531_1_7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5517b05b28dcd531_1_70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5517b05b28dcd531_1_7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5517b05b28dcd531_1_815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5517b05b28dcd531_1_81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h5517b05b28dcd531_1_815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h5517b05b28dcd531_1_8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5517b05b28dcd531_1_81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5517b05b28dcd531_1_8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517b05b28dcd531_1_982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h5517b05b28dcd531_1_982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5517b05b28dcd531_1_982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h5517b05b28dcd531_1_9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5517b05b28dcd531_1_982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h5517b05b28dcd531_1_9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5517b05b28dcd531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h5517b05b28dcd531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Quadro UE di riferimento per la protezione dei dati e l'etica dell'intelligenza artificiale.</a:t>
            </a:r>
            <a:endParaRPr/>
          </a:p>
        </p:txBody>
      </p:sp>
      <p:sp>
        <p:nvSpPr>
          <p:cNvPr id="210" name="Google Shape;210;h5517b05b28dcd531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5517b05b28dcd531_1_118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5517b05b28dcd531_1_118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h5517b05b28dcd531_1_118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h5517b05b28dcd531_1_1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h5517b05b28dcd531_1_118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h5517b05b28dcd531_1_1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5517b05b28dcd531_1_1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h5517b05b28dcd531_1_1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Quadro UE di riferimento per la protezione dei dati e l'etica dell'intelligenza artificiale.</a:t>
            </a:r>
            <a:endParaRPr/>
          </a:p>
        </p:txBody>
      </p:sp>
      <p:sp>
        <p:nvSpPr>
          <p:cNvPr id="249" name="Google Shape;249;h5517b05b28dcd531_1_1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5517b05b28dcd531_1_1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h5517b05b28dcd531_1_1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Quadro UE di riferimento per la protezione dei dati e l'etica dell'intelligenza artificiale.</a:t>
            </a:r>
            <a:endParaRPr/>
          </a:p>
        </p:txBody>
      </p:sp>
      <p:sp>
        <p:nvSpPr>
          <p:cNvPr id="259" name="Google Shape;259;h5517b05b28dcd531_1_13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5517b05b28dcd531_1_1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h5517b05b28dcd531_1_1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Quadro UE di riferimento per la protezione dei dati e l'etica dell'intelligenza artificiale.</a:t>
            </a:r>
            <a:endParaRPr/>
          </a:p>
        </p:txBody>
      </p:sp>
      <p:sp>
        <p:nvSpPr>
          <p:cNvPr id="269" name="Google Shape;269;h5517b05b28dcd531_1_1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5517b05b28dcd531_1_1079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h5517b05b28dcd531_1_107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h5517b05b28dcd531_1_1079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h5517b05b28dcd531_1_10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h5517b05b28dcd531_1_107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h5517b05b28dcd531_1_10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5517b05b28dcd531_1_146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h5517b05b28dcd531_1_146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h5517b05b28dcd531_1_146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h5517b05b28dcd531_1_14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h5517b05b28dcd531_1_146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h5517b05b28dcd531_1_14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5517b05b28dcd531_1_1555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h5517b05b28dcd531_1_155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h5517b05b28dcd531_1_1555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h5517b05b28dcd531_1_15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h5517b05b28dcd531_1_155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h5517b05b28dcd531_1_15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5517b05b28dcd531_1_175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h5517b05b28dcd531_1_175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h5517b05b28dcd531_1_175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h5517b05b28dcd531_1_17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h5517b05b28dcd531_1_175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h5517b05b28dcd531_1_17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5517b05b28dcd531_1_165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h5517b05b28dcd531_1_165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h5517b05b28dcd531_1_165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h5517b05b28dcd531_1_16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h5517b05b28dcd531_1_165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h5517b05b28dcd531_1_16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4a5f09c24173ee15_1_225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h4a5f09c24173ee15_1_22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h4a5f09c24173ee15_1_225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h4a5f09c24173ee15_1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h4a5f09c24173ee15_1_22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h4a5f09c24173ee15_1_2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4a5f09c24173ee15_1_30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h4a5f09c24173ee15_1_30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h4a5f09c24173ee15_1_30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h4a5f09c24173ee15_1_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h4a5f09c24173ee15_1_30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h4a5f09c24173ee15_1_3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h4a5f09c24173ee15_1_3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h4a5f09c24173ee15_1_3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4a5f09c24173ee15_1_3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h4a5f09c24173ee15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h4a5f09c24173ee15_1_3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h4a5f09c24173ee15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h5517b05b28dcd531_1_17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h5517b05b28dcd531_1_17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DS opera come legale rappresentante del Titolare del trattamento (Par. 3.1 Linee guida).</a:t>
            </a:r>
            <a:endParaRPr/>
          </a:p>
        </p:txBody>
      </p:sp>
      <p:sp>
        <p:nvSpPr>
          <p:cNvPr id="541" name="Google Shape;541;h5517b05b28dcd531_1_17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h5517b05b28dcd531_1_17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h5517b05b28dcd531_1_17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h5517b05b28dcd531_1_17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Data Protection Officer affianca il DS sin dalla fase di adozione dei sistemi (Par. 3.3).</a:t>
            </a:r>
            <a:endParaRPr/>
          </a:p>
        </p:txBody>
      </p:sp>
      <p:sp>
        <p:nvSpPr>
          <p:cNvPr id="557" name="Google Shape;5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Supporto organizzativo e logistico, ottimizzazione richieste e certificazioni (Par. 4.3).</a:t>
            </a:r>
            <a:endParaRPr/>
          </a:p>
        </p:txBody>
      </p:sp>
      <p:sp>
        <p:nvSpPr>
          <p:cNvPr id="567" name="Google Shape;5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Promozione dell'innovazione didattica e alfabetizzazione mediatica (Par. 4.3).</a:t>
            </a:r>
            <a:endParaRPr/>
          </a:p>
        </p:txBody>
      </p:sp>
      <p:sp>
        <p:nvSpPr>
          <p:cNvPr id="577" name="Google Shape;5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di verifica sui ruoli.</a:t>
            </a:r>
            <a:br>
              <a:rPr lang="en-US"/>
            </a:br>
            <a:br>
              <a:rPr lang="en-US"/>
            </a:br>
            <a:r>
              <a:rPr lang="en-US"/>
              <a:t>Risposta corretta: B</a:t>
            </a:r>
            <a:endParaRPr/>
          </a:p>
        </p:txBody>
      </p:sp>
      <p:sp>
        <p:nvSpPr>
          <p:cNvPr id="587" name="Google Shape;5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quattro pilastri etici del DM 166/2025 per prevenire distorsioni algoritmiche (Par. 3.1).</a:t>
            </a:r>
            <a:endParaRPr/>
          </a:p>
        </p:txBody>
      </p:sp>
      <p:sp>
        <p:nvSpPr>
          <p:cNvPr id="605" name="Google Shape;6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Considerando 56 dell'AI Act qualifica i sistemi educativi come ad alto rischio.</a:t>
            </a:r>
            <a:endParaRPr/>
          </a:p>
        </p:txBody>
      </p:sp>
      <p:sp>
        <p:nvSpPr>
          <p:cNvPr id="615" name="Google Shape;6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Applicazione degli artt. 5 e 25 del GDPR fin dalle fasi di progettazione (Par. 3.1).</a:t>
            </a:r>
            <a:endParaRPr/>
          </a:p>
        </p:txBody>
      </p:sp>
      <p:sp>
        <p:nvSpPr>
          <p:cNvPr id="634" name="Google Shape;6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Tecniche per proteggere la riservatezza e ridurre l'uso di dati personali reali (Par. 3.2).</a:t>
            </a:r>
            <a:endParaRPr/>
          </a:p>
        </p:txBody>
      </p:sp>
      <p:sp>
        <p:nvSpPr>
          <p:cNvPr id="644" name="Google Shape;6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di verifica sulle tecnologie.</a:t>
            </a:r>
            <a:br>
              <a:rPr lang="en-US"/>
            </a:br>
            <a:br>
              <a:rPr lang="en-US"/>
            </a:br>
            <a:r>
              <a:rPr lang="en-US"/>
              <a:t>Risposta corretta: B</a:t>
            </a:r>
            <a:endParaRPr/>
          </a:p>
        </p:txBody>
      </p:sp>
      <p:sp>
        <p:nvSpPr>
          <p:cNvPr id="654" name="Google Shape;6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Gli utenti possono rifiutare l'uso dei propri dati senza subire discriminazioni (Par. 3.2).</a:t>
            </a:r>
            <a:endParaRPr/>
          </a:p>
        </p:txBody>
      </p:sp>
      <p:sp>
        <p:nvSpPr>
          <p:cNvPr id="672" name="Google Shape;6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Precauzioni tecniche da adottare nell'uso di LLM e strumenti di IA generativa (Par. 3.2).</a:t>
            </a:r>
            <a:endParaRPr/>
          </a:p>
        </p:txBody>
      </p:sp>
      <p:sp>
        <p:nvSpPr>
          <p:cNvPr id="682" name="Google Shape;6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Obbligo di regolare i rapporti con i vendor esterni che trattano dati (Par. 3.1).</a:t>
            </a:r>
            <a:endParaRPr/>
          </a:p>
        </p:txBody>
      </p:sp>
      <p:sp>
        <p:nvSpPr>
          <p:cNvPr id="692" name="Google Shape;6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Obbligatoria per tecnologie innovative e volumi elevati di dati di minori (Par. 3.3).</a:t>
            </a:r>
            <a:endParaRPr/>
          </a:p>
        </p:txBody>
      </p:sp>
      <p:sp>
        <p:nvSpPr>
          <p:cNvPr id="702" name="Google Shape;70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di verifica sugli adempimenti.</a:t>
            </a:r>
            <a:br>
              <a:rPr lang="en-US"/>
            </a:br>
            <a:br>
              <a:rPr lang="en-US"/>
            </a:br>
            <a:r>
              <a:rPr lang="en-US"/>
              <a:t>Risposta corretta: B</a:t>
            </a:r>
            <a:endParaRPr/>
          </a:p>
        </p:txBody>
      </p:sp>
      <p:sp>
        <p:nvSpPr>
          <p:cNvPr id="712" name="Google Shape;7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Primo pilastro del modello metodologico: definizione degli obiettivi (Par. 4.1).</a:t>
            </a:r>
            <a:endParaRPr/>
          </a:p>
        </p:txBody>
      </p:sp>
      <p:sp>
        <p:nvSpPr>
          <p:cNvPr id="730" name="Google Shape;73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Analisi di impatto e probabilità per prevenire errori sistemici e bias (Par. 4.1).</a:t>
            </a:r>
            <a:endParaRPr/>
          </a:p>
        </p:txBody>
      </p:sp>
      <p:sp>
        <p:nvSpPr>
          <p:cNvPr id="740" name="Google Shape;7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Terza fase: lancio operativo controllato e formazione continua (Par. 4.1).</a:t>
            </a:r>
            <a:endParaRPr/>
          </a:p>
        </p:txBody>
      </p:sp>
      <p:sp>
        <p:nvSpPr>
          <p:cNvPr id="750" name="Google Shape;75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Audit, compilazione della scheda progetto e manutenzione costante (Par. 4.1 e 5).</a:t>
            </a:r>
            <a:endParaRPr/>
          </a:p>
        </p:txBody>
      </p:sp>
      <p:sp>
        <p:nvSpPr>
          <p:cNvPr id="760" name="Google Shape;76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sulla metodologia.</a:t>
            </a:r>
            <a:br>
              <a:rPr lang="en-US"/>
            </a:br>
            <a:br>
              <a:rPr lang="en-US"/>
            </a:br>
            <a:r>
              <a:rPr lang="en-US"/>
              <a:t>Risposta corretta: B</a:t>
            </a:r>
            <a:endParaRPr/>
          </a:p>
        </p:txBody>
      </p:sp>
      <p:sp>
        <p:nvSpPr>
          <p:cNvPr id="770" name="Google Shape;77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docenti guidano gli studenti a interrogare i modelli senza cedere dati sensibili (Par. 4.4).</a:t>
            </a:r>
            <a:endParaRPr/>
          </a:p>
        </p:txBody>
      </p:sp>
      <p:sp>
        <p:nvSpPr>
          <p:cNvPr id="788" name="Google Shape;78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Laboratori che uniscono innovazione tecnologica e tutela della dignità (Par. 4.3).</a:t>
            </a:r>
            <a:endParaRPr/>
          </a:p>
        </p:txBody>
      </p:sp>
      <p:sp>
        <p:nvSpPr>
          <p:cNvPr id="798" name="Google Shape;79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L'IA assiste il docente, ma la valutazione finale resta un atto umano (Par. 3.1).</a:t>
            </a:r>
            <a:endParaRPr/>
          </a:p>
        </p:txBody>
      </p:sp>
      <p:sp>
        <p:nvSpPr>
          <p:cNvPr id="808" name="Google Shape;80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piattaforma Unica è il canale ufficiale per mappare le sperimentazioni (Par. 5).</a:t>
            </a:r>
            <a:endParaRPr/>
          </a:p>
        </p:txBody>
      </p:sp>
      <p:sp>
        <p:nvSpPr>
          <p:cNvPr id="818" name="Google Shape;81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Verifica finale.</a:t>
            </a:r>
            <a:br>
              <a:rPr lang="en-US"/>
            </a:br>
            <a:br>
              <a:rPr lang="en-US"/>
            </a:br>
            <a:r>
              <a:rPr lang="en-US"/>
              <a:t>Risposta corretta: B</a:t>
            </a:r>
            <a:endParaRPr/>
          </a:p>
        </p:txBody>
      </p:sp>
      <p:sp>
        <p:nvSpPr>
          <p:cNvPr id="828" name="Google Shape;82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">
  <p:cSld name="TITOLO">
    <p:bg>
      <p:bgPr>
        <a:solidFill>
          <a:srgbClr val="1F3A5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731520" y="1097280"/>
            <a:ext cx="7680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erriweather"/>
              <a:buNone/>
              <a:defRPr b="1" i="0" sz="4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">
  <p:cSld name="CONTENUTO">
    <p:bg>
      <p:bgPr>
        <a:solidFill>
          <a:srgbClr val="FAFAFA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  <a:defRPr b="1" i="0" sz="2600" u="none" cap="none" strike="noStrike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IFICA">
  <p:cSld name="VERIFICA">
    <p:bg>
      <p:bgPr>
        <a:solidFill>
          <a:srgbClr val="EAF0F6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  <a:defRPr b="1" i="0" sz="2600" u="none" cap="none" strike="noStrike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1b83106d48e32ad_18_0)">
  <p:cSld name="Generated (h41b83106d48e32ad_18_0)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7.png"/><Relationship Id="rId13" Type="http://schemas.openxmlformats.org/officeDocument/2006/relationships/image" Target="../media/image37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Relationship Id="rId15" Type="http://schemas.openxmlformats.org/officeDocument/2006/relationships/image" Target="../media/image42.png"/><Relationship Id="rId14" Type="http://schemas.openxmlformats.org/officeDocument/2006/relationships/image" Target="../media/image45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9" Type="http://schemas.openxmlformats.org/officeDocument/2006/relationships/image" Target="../media/image47.png"/><Relationship Id="rId5" Type="http://schemas.openxmlformats.org/officeDocument/2006/relationships/image" Target="../media/image35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731525" y="1097275"/>
            <a:ext cx="76809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erriweather"/>
              <a:buNone/>
            </a:pPr>
            <a:r>
              <a:rPr b="1" lang="en-US" sz="4000">
                <a:solidFill>
                  <a:srgbClr val="FFFFFF"/>
                </a:solidFill>
              </a:rPr>
              <a:t>Linee guida IA e Privacy nella </a:t>
            </a:r>
            <a:r>
              <a:rPr lang="en-US"/>
              <a:t>S</a:t>
            </a:r>
            <a:r>
              <a:rPr b="1" lang="en-US" sz="4000">
                <a:solidFill>
                  <a:srgbClr val="FFFFFF"/>
                </a:solidFill>
              </a:rPr>
              <a:t>cuola Italiana</a:t>
            </a:r>
            <a:endParaRPr sz="4000"/>
          </a:p>
        </p:txBody>
      </p:sp>
      <p:sp>
        <p:nvSpPr>
          <p:cNvPr id="27" name="Google Shape;27;p7"/>
          <p:cNvSpPr txBox="1"/>
          <p:nvPr/>
        </p:nvSpPr>
        <p:spPr>
          <a:xfrm>
            <a:off x="914400" y="2534452"/>
            <a:ext cx="73152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6E6"/>
              </a:buClr>
              <a:buSzPts val="1800"/>
              <a:buFont typeface="Lato"/>
              <a:buNone/>
            </a:pPr>
            <a:r>
              <a:rPr b="0" i="0" lang="en-US" sz="2200" u="none" cap="none" strike="noStrike">
                <a:solidFill>
                  <a:srgbClr val="C9D6E6"/>
                </a:solidFill>
                <a:latin typeface="Lato"/>
                <a:ea typeface="Lato"/>
                <a:cs typeface="Lato"/>
                <a:sym typeface="Lato"/>
              </a:rPr>
              <a:t>Normativa europea e nazionale di riferimento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C9D6E6"/>
              </a:buClr>
              <a:buSzPts val="1800"/>
              <a:buFont typeface="Lato"/>
              <a:buNone/>
            </a:pPr>
            <a:r>
              <a:rPr b="0" i="0" lang="en-US" sz="2200" u="none" cap="none" strike="noStrike">
                <a:solidFill>
                  <a:srgbClr val="C9D6E6"/>
                </a:solidFill>
                <a:latin typeface="Lato"/>
                <a:ea typeface="Lato"/>
                <a:cs typeface="Lato"/>
                <a:sym typeface="Lato"/>
              </a:rPr>
              <a:t>Ruoli chiave del personale scolastic</a:t>
            </a:r>
            <a:r>
              <a:rPr lang="en-US" sz="2200">
                <a:solidFill>
                  <a:srgbClr val="C9D6E6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1002750" y="3913275"/>
            <a:ext cx="73152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C9D6E6"/>
              </a:buClr>
              <a:buSzPts val="1800"/>
              <a:buFont typeface="Lato"/>
              <a:buNone/>
            </a:pPr>
            <a:r>
              <a:rPr i="1" lang="en-US" sz="1800">
                <a:solidFill>
                  <a:srgbClr val="C9D6E6"/>
                </a:solidFill>
                <a:latin typeface="Lato"/>
                <a:ea typeface="Lato"/>
                <a:cs typeface="Lato"/>
                <a:sym typeface="Lato"/>
              </a:rPr>
              <a:t>Formatore: Alberto Carraro </a:t>
            </a:r>
            <a:endParaRPr i="1" sz="1800">
              <a:solidFill>
                <a:srgbClr val="C9D6E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C9D6E6"/>
              </a:buClr>
              <a:buSzPts val="1800"/>
              <a:buFont typeface="Lato"/>
              <a:buNone/>
            </a:pPr>
            <a:r>
              <a:rPr i="1" lang="en-US" sz="1800">
                <a:solidFill>
                  <a:srgbClr val="C9D6E6"/>
                </a:solidFill>
                <a:latin typeface="Lato"/>
                <a:ea typeface="Lato"/>
                <a:cs typeface="Lato"/>
                <a:sym typeface="Lato"/>
              </a:rPr>
              <a:t>per Equipe Formativa Territoriale Veneto</a:t>
            </a:r>
            <a:endParaRPr b="0" i="1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5297" y="6"/>
            <a:ext cx="2278702" cy="11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/>
          <p:nvPr/>
        </p:nvSpPr>
        <p:spPr>
          <a:xfrm>
            <a:off x="457200" y="1524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Istituzioni Chiave dell'Unione Europea</a:t>
            </a:r>
            <a:endParaRPr b="1" sz="18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40" name="Google Shape;40;p8"/>
          <p:cNvGrpSpPr/>
          <p:nvPr/>
        </p:nvGrpSpPr>
        <p:grpSpPr>
          <a:xfrm>
            <a:off x="457200" y="1333979"/>
            <a:ext cx="1943100" cy="2405653"/>
            <a:chOff x="0" y="0"/>
            <a:chExt cx="1943100" cy="3524250"/>
          </a:xfrm>
        </p:grpSpPr>
        <p:sp>
          <p:nvSpPr>
            <p:cNvPr id="41" name="Google Shape;41;p8"/>
            <p:cNvSpPr/>
            <p:nvPr/>
          </p:nvSpPr>
          <p:spPr>
            <a:xfrm>
              <a:off x="0" y="0"/>
              <a:ext cx="1943100" cy="247800"/>
            </a:xfrm>
            <a:prstGeom prst="roundRect">
              <a:avLst>
                <a:gd fmla="val 15384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8"/>
            <p:cNvSpPr txBox="1"/>
            <p:nvPr/>
          </p:nvSpPr>
          <p:spPr>
            <a:xfrm>
              <a:off x="0" y="0"/>
              <a:ext cx="19431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Parlamento Europeo</a:t>
              </a:r>
              <a:endParaRPr b="1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" name="Google Shape;43;p8"/>
            <p:cNvSpPr/>
            <p:nvPr/>
          </p:nvSpPr>
          <p:spPr>
            <a:xfrm>
              <a:off x="0" y="285750"/>
              <a:ext cx="1943100" cy="3238500"/>
            </a:xfrm>
            <a:prstGeom prst="roundRect">
              <a:avLst>
                <a:gd fmla="val 2941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8"/>
            <p:cNvSpPr txBox="1"/>
            <p:nvPr/>
          </p:nvSpPr>
          <p:spPr>
            <a:xfrm>
              <a:off x="76200" y="361950"/>
              <a:ext cx="1790700" cy="30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omposto da: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Deputati eletti a suffragio universale dai cittadini ogni 5 anni. Rappresenta i cittadini europei.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Ruoli principali: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1450" lvl="0" marL="171450" rtl="0" algn="l">
                <a:spcBef>
                  <a:spcPts val="75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Co-legislatore: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Esamina e approva le leggi con il Consiglio dell</a:t>
              </a:r>
              <a:r>
                <a:rPr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’UE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1450" lvl="0" marL="171450" rtl="0" algn="l">
                <a:spcBef>
                  <a:spcPts val="150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Bilancio: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Approva il bilancio annuale UE.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1450" lvl="0" marL="171450" rtl="0" algn="l">
                <a:spcBef>
                  <a:spcPts val="150"/>
                </a:spcBef>
                <a:spcAft>
                  <a:spcPts val="15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Controllo: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Vigila sulle istituzioni e approva la Commissione.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5" name="Google Shape;45;p8"/>
          <p:cNvGrpSpPr/>
          <p:nvPr/>
        </p:nvGrpSpPr>
        <p:grpSpPr>
          <a:xfrm>
            <a:off x="2552700" y="1333979"/>
            <a:ext cx="1943100" cy="2405653"/>
            <a:chOff x="0" y="0"/>
            <a:chExt cx="1943100" cy="3524250"/>
          </a:xfrm>
        </p:grpSpPr>
        <p:sp>
          <p:nvSpPr>
            <p:cNvPr id="46" name="Google Shape;46;p8"/>
            <p:cNvSpPr/>
            <p:nvPr/>
          </p:nvSpPr>
          <p:spPr>
            <a:xfrm>
              <a:off x="0" y="0"/>
              <a:ext cx="1943100" cy="247800"/>
            </a:xfrm>
            <a:prstGeom prst="roundRect">
              <a:avLst>
                <a:gd fmla="val 15384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8"/>
            <p:cNvSpPr txBox="1"/>
            <p:nvPr/>
          </p:nvSpPr>
          <p:spPr>
            <a:xfrm>
              <a:off x="0" y="0"/>
              <a:ext cx="19431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Consiglio Europeo</a:t>
              </a:r>
              <a:endParaRPr b="1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8" name="Google Shape;48;p8"/>
            <p:cNvSpPr/>
            <p:nvPr/>
          </p:nvSpPr>
          <p:spPr>
            <a:xfrm>
              <a:off x="0" y="285750"/>
              <a:ext cx="1943100" cy="3238500"/>
            </a:xfrm>
            <a:prstGeom prst="roundRect">
              <a:avLst>
                <a:gd fmla="val 2941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8"/>
            <p:cNvSpPr txBox="1"/>
            <p:nvPr/>
          </p:nvSpPr>
          <p:spPr>
            <a:xfrm>
              <a:off x="76200" y="361950"/>
              <a:ext cx="1790700" cy="30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omposto da: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Capi di Stato/Governo dei 27 Paesi, dal proprio Presidente e dal Presidente della Commissione.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Ruoli principali: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1450" lvl="0" marL="171450" rtl="0" algn="l">
                <a:spcBef>
                  <a:spcPts val="75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Indirizzo strategico: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Definisce le priorità politiche e le linee guida dell'UE.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1450" lvl="0" marL="171450" rtl="0" algn="l">
                <a:spcBef>
                  <a:spcPts val="150"/>
                </a:spcBef>
                <a:spcAft>
                  <a:spcPts val="15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Attività legislativa: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Non partecipa all'approvazione delle leggi.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0" name="Google Shape;50;p8"/>
          <p:cNvGrpSpPr/>
          <p:nvPr/>
        </p:nvGrpSpPr>
        <p:grpSpPr>
          <a:xfrm>
            <a:off x="4648200" y="1333979"/>
            <a:ext cx="1943100" cy="2405653"/>
            <a:chOff x="0" y="0"/>
            <a:chExt cx="1943100" cy="3524250"/>
          </a:xfrm>
        </p:grpSpPr>
        <p:sp>
          <p:nvSpPr>
            <p:cNvPr id="51" name="Google Shape;51;p8"/>
            <p:cNvSpPr/>
            <p:nvPr/>
          </p:nvSpPr>
          <p:spPr>
            <a:xfrm>
              <a:off x="0" y="0"/>
              <a:ext cx="1943100" cy="247800"/>
            </a:xfrm>
            <a:prstGeom prst="roundRect">
              <a:avLst>
                <a:gd fmla="val 15384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8"/>
            <p:cNvSpPr txBox="1"/>
            <p:nvPr/>
          </p:nvSpPr>
          <p:spPr>
            <a:xfrm>
              <a:off x="0" y="0"/>
              <a:ext cx="19431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Consiglio dell'UE</a:t>
              </a:r>
              <a:endParaRPr b="1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0" y="285750"/>
              <a:ext cx="1943100" cy="3238500"/>
            </a:xfrm>
            <a:prstGeom prst="roundRect">
              <a:avLst>
                <a:gd fmla="val 2941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 txBox="1"/>
            <p:nvPr/>
          </p:nvSpPr>
          <p:spPr>
            <a:xfrm>
              <a:off x="76200" y="361950"/>
              <a:ext cx="1790700" cy="30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omposto da: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Ministri nazionali per materia. Rappresenta i singoli governi.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Ruoli principali: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1450" lvl="0" marL="171450" rtl="0" algn="l">
                <a:spcBef>
                  <a:spcPts val="75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Co-legislatore: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Adotta gli atti legislativi (regolamenti e direttive) con il Parlamento europeo.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1450" lvl="0" marL="171450" rtl="0" algn="l">
                <a:spcBef>
                  <a:spcPts val="150"/>
                </a:spcBef>
                <a:spcAft>
                  <a:spcPts val="15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Coordinamento: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Coordina le politiche economiche e di sicurezza.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5" name="Google Shape;55;p8"/>
          <p:cNvGrpSpPr/>
          <p:nvPr/>
        </p:nvGrpSpPr>
        <p:grpSpPr>
          <a:xfrm>
            <a:off x="6743700" y="1333979"/>
            <a:ext cx="1943100" cy="2405653"/>
            <a:chOff x="0" y="0"/>
            <a:chExt cx="1943100" cy="3524250"/>
          </a:xfrm>
        </p:grpSpPr>
        <p:sp>
          <p:nvSpPr>
            <p:cNvPr id="56" name="Google Shape;56;p8"/>
            <p:cNvSpPr/>
            <p:nvPr/>
          </p:nvSpPr>
          <p:spPr>
            <a:xfrm>
              <a:off x="0" y="0"/>
              <a:ext cx="1943100" cy="247800"/>
            </a:xfrm>
            <a:prstGeom prst="roundRect">
              <a:avLst>
                <a:gd fmla="val 15384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 txBox="1"/>
            <p:nvPr/>
          </p:nvSpPr>
          <p:spPr>
            <a:xfrm>
              <a:off x="0" y="0"/>
              <a:ext cx="19431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Commissione Europea</a:t>
              </a:r>
              <a:endParaRPr b="1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" name="Google Shape;58;p8"/>
            <p:cNvSpPr/>
            <p:nvPr/>
          </p:nvSpPr>
          <p:spPr>
            <a:xfrm>
              <a:off x="0" y="285750"/>
              <a:ext cx="1943100" cy="3238500"/>
            </a:xfrm>
            <a:prstGeom prst="roundRect">
              <a:avLst>
                <a:gd fmla="val 2941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 txBox="1"/>
            <p:nvPr/>
          </p:nvSpPr>
          <p:spPr>
            <a:xfrm>
              <a:off x="76200" y="361950"/>
              <a:ext cx="1790700" cy="30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omposta da: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27 Commissari indipendenti (uno per Stato). Rappresenta l'interesse generale UE.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Ruoli principali: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1450" lvl="0" marL="171450" rtl="0" algn="l">
                <a:spcBef>
                  <a:spcPts val="75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Iniziativa esclusiva: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Propone nuove leggi dell'UE.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58750" lvl="0" marL="171450" rtl="0" algn="l">
                <a:spcBef>
                  <a:spcPts val="150"/>
                </a:spcBef>
                <a:spcAft>
                  <a:spcPts val="150"/>
                </a:spcAft>
                <a:buClr>
                  <a:srgbClr val="333333"/>
                </a:buClr>
                <a:buSzPts val="700"/>
                <a:buFont typeface="Lato"/>
                <a:buChar char="●"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Organo esecutivo: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Gestisce le politiche, i fondi (PNRR) e vigila sui Trattati</a:t>
              </a:r>
              <a:r>
                <a:rPr b="0" lang="en-US" sz="7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7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0" name="Google Shape;60;p8"/>
          <p:cNvGrpSpPr/>
          <p:nvPr/>
        </p:nvGrpSpPr>
        <p:grpSpPr>
          <a:xfrm>
            <a:off x="457200" y="3942075"/>
            <a:ext cx="8229600" cy="495300"/>
            <a:chOff x="0" y="0"/>
            <a:chExt cx="8229600" cy="495300"/>
          </a:xfrm>
        </p:grpSpPr>
        <p:sp>
          <p:nvSpPr>
            <p:cNvPr id="61" name="Google Shape;61;p8"/>
            <p:cNvSpPr/>
            <p:nvPr/>
          </p:nvSpPr>
          <p:spPr>
            <a:xfrm>
              <a:off x="0" y="0"/>
              <a:ext cx="8229600" cy="495300"/>
            </a:xfrm>
            <a:prstGeom prst="roundRect">
              <a:avLst>
                <a:gd fmla="val 11538" name="adj"/>
              </a:avLst>
            </a:prstGeom>
            <a:solidFill>
              <a:srgbClr val="EBF2FA"/>
            </a:solidFill>
            <a:ln cap="flat" cmpd="sng" w="9525">
              <a:solidFill>
                <a:srgbClr val="2F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 txBox="1"/>
            <p:nvPr/>
          </p:nvSpPr>
          <p:spPr>
            <a:xfrm>
              <a:off x="114300" y="38100"/>
              <a:ext cx="8001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Sintesi del Funzionamento:</a:t>
              </a:r>
              <a:endParaRPr b="1" sz="8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en-US" sz="720">
                  <a:solidFill>
                    <a:srgbClr val="1F2937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b="1" lang="en-US" sz="720">
                  <a:solidFill>
                    <a:srgbClr val="1F2937"/>
                  </a:solidFill>
                  <a:latin typeface="Lato"/>
                  <a:ea typeface="Lato"/>
                  <a:cs typeface="Lato"/>
                  <a:sym typeface="Lato"/>
                </a:rPr>
                <a:t>Guida politica:</a:t>
              </a:r>
              <a:r>
                <a:rPr b="0" lang="en-US" sz="720">
                  <a:solidFill>
                    <a:srgbClr val="1F2937"/>
                  </a:solidFill>
                  <a:latin typeface="Lato"/>
                  <a:ea typeface="Lato"/>
                  <a:cs typeface="Lato"/>
                  <a:sym typeface="Lato"/>
                </a:rPr>
                <a:t> Il Consiglio Europeo fissa le priorità strategiche.</a:t>
              </a:r>
              <a:br>
                <a:rPr b="0" lang="en-US" sz="720">
                  <a:solidFill>
                    <a:srgbClr val="1F2937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b="0" lang="en-US" sz="720">
                  <a:solidFill>
                    <a:srgbClr val="1F2937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b="1" lang="en-US" sz="720">
                  <a:solidFill>
                    <a:srgbClr val="1F2937"/>
                  </a:solidFill>
                  <a:latin typeface="Lato"/>
                  <a:ea typeface="Lato"/>
                  <a:cs typeface="Lato"/>
                  <a:sym typeface="Lato"/>
                </a:rPr>
                <a:t>Iter legislativo:</a:t>
              </a:r>
              <a:r>
                <a:rPr b="0" lang="en-US" sz="720">
                  <a:solidFill>
                    <a:srgbClr val="1F2937"/>
                  </a:solidFill>
                  <a:latin typeface="Lato"/>
                  <a:ea typeface="Lato"/>
                  <a:cs typeface="Lato"/>
                  <a:sym typeface="Lato"/>
                </a:rPr>
                <a:t> La Commissione propone le leggi; Parlamento Europeo e Consiglio dell'UE le approvano insieme.</a:t>
              </a:r>
              <a:endParaRPr b="0" sz="72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63" name="Google Shape;6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6615" y="578575"/>
            <a:ext cx="955263" cy="63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" name="Google Shape;6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584" y="578587"/>
            <a:ext cx="804319" cy="63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4339" y="639050"/>
            <a:ext cx="1761823" cy="634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" name="Google Shape;66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83800" y="545062"/>
            <a:ext cx="871892" cy="7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/>
          <p:nvPr/>
        </p:nvSpPr>
        <p:spPr>
          <a:xfrm>
            <a:off x="457200" y="1524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Equilibrio Istituzionale e Cooperazione Internazionale</a:t>
            </a:r>
            <a:endParaRPr b="1" sz="16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77" name="Google Shape;77;p9"/>
          <p:cNvGrpSpPr/>
          <p:nvPr/>
        </p:nvGrpSpPr>
        <p:grpSpPr>
          <a:xfrm>
            <a:off x="457200" y="1205913"/>
            <a:ext cx="4019700" cy="2316060"/>
            <a:chOff x="0" y="0"/>
            <a:chExt cx="4019700" cy="3333900"/>
          </a:xfrm>
        </p:grpSpPr>
        <p:sp>
          <p:nvSpPr>
            <p:cNvPr id="78" name="Google Shape;78;p9"/>
            <p:cNvSpPr/>
            <p:nvPr/>
          </p:nvSpPr>
          <p:spPr>
            <a:xfrm>
              <a:off x="0" y="0"/>
              <a:ext cx="4019700" cy="228600"/>
            </a:xfrm>
            <a:prstGeom prst="roundRect">
              <a:avLst>
                <a:gd fmla="val 16666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9"/>
            <p:cNvSpPr txBox="1"/>
            <p:nvPr/>
          </p:nvSpPr>
          <p:spPr>
            <a:xfrm>
              <a:off x="0" y="0"/>
              <a:ext cx="4019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L</a:t>
              </a:r>
              <a:r>
                <a:rPr b="1" lang="en-US" sz="95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' Equilibrio Istituzionale nei 4 Organi UE</a:t>
              </a:r>
              <a:endParaRPr b="1" sz="9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0" y="266700"/>
              <a:ext cx="4019700" cy="3067200"/>
            </a:xfrm>
            <a:prstGeom prst="roundRect">
              <a:avLst>
                <a:gd fmla="val 1863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9"/>
            <p:cNvSpPr txBox="1"/>
            <p:nvPr/>
          </p:nvSpPr>
          <p:spPr>
            <a:xfrm>
              <a:off x="114300" y="361950"/>
              <a:ext cx="37911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Principio di non-gerarchia e bilanciamento:</a:t>
              </a:r>
              <a:endParaRPr b="1" sz="8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Indirizzo Strategico vs. Esecutivo:</a:t>
              </a:r>
              <a:endParaRPr b="1" sz="7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Il </a:t>
              </a: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Consiglio europeo</a:t>
              </a: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fissa le priorità politiche generali. Non esercita funzioni legislative né si sostituisce alla Commissione o ai co-legislatori.</a:t>
              </a:r>
              <a:endParaRPr b="0" sz="7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Iniziativa vs. Potere Legislativo:</a:t>
              </a:r>
              <a:endParaRPr b="1" sz="7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La </a:t>
              </a: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Commissione europea</a:t>
              </a: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ha il monopolio dell'iniziativa legislativa (propone le leggi), ma non può approvarle autonomamente.</a:t>
              </a:r>
              <a:endParaRPr b="0" sz="7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Parità tra i Co-legislatori:</a:t>
              </a:r>
              <a:endParaRPr b="1" sz="7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Parlamento europeo</a:t>
              </a: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(cittadini) e </a:t>
              </a: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Consiglio dell'UE</a:t>
              </a: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(governi) operano sullo stesso piano. Un atto (GDPR, AI Act) richiede l'approvazione congiunta di entrambi.</a:t>
              </a:r>
              <a:endParaRPr b="0" sz="7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82" name="Google Shape;82;p9"/>
          <p:cNvGrpSpPr/>
          <p:nvPr/>
        </p:nvGrpSpPr>
        <p:grpSpPr>
          <a:xfrm>
            <a:off x="4667250" y="1205913"/>
            <a:ext cx="4019700" cy="2316060"/>
            <a:chOff x="0" y="0"/>
            <a:chExt cx="4019700" cy="3333900"/>
          </a:xfrm>
        </p:grpSpPr>
        <p:sp>
          <p:nvSpPr>
            <p:cNvPr id="83" name="Google Shape;83;p9"/>
            <p:cNvSpPr/>
            <p:nvPr/>
          </p:nvSpPr>
          <p:spPr>
            <a:xfrm>
              <a:off x="0" y="0"/>
              <a:ext cx="4019700" cy="228600"/>
            </a:xfrm>
            <a:prstGeom prst="roundRect">
              <a:avLst>
                <a:gd fmla="val 16666" name="adj"/>
              </a:avLst>
            </a:prstGeom>
            <a:solidFill>
              <a:srgbClr val="2F5D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9"/>
            <p:cNvSpPr txBox="1"/>
            <p:nvPr/>
          </p:nvSpPr>
          <p:spPr>
            <a:xfrm>
              <a:off x="0" y="0"/>
              <a:ext cx="4019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Relazione con il Consiglio d'Europa (Organo Esterno)</a:t>
              </a:r>
              <a:endParaRPr b="1" sz="9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0" y="266700"/>
              <a:ext cx="4019700" cy="3067200"/>
            </a:xfrm>
            <a:prstGeom prst="roundRect">
              <a:avLst>
                <a:gd fmla="val 1863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 txBox="1"/>
            <p:nvPr/>
          </p:nvSpPr>
          <p:spPr>
            <a:xfrm>
              <a:off x="114300" y="361950"/>
              <a:ext cx="3791100" cy="28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Complementarità senza subordinazione gerarchica:</a:t>
              </a:r>
              <a:endParaRPr b="1" sz="8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Standard sui Diritti Umani:</a:t>
              </a:r>
              <a:endParaRPr b="1" sz="7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Organizzazione esterna (46 Paesi) che stabilisce tutele fondamentali continentali tramite CEDU e Convenzione 108.</a:t>
              </a:r>
              <a:endParaRPr b="0" sz="7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Recepimento nell'Ordinamento UE:</a:t>
              </a:r>
              <a:endParaRPr b="1" sz="7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L'UE assicura che le proprie normative civili e digitali (GDPR, AI Act) siano pienamente coerenti con i principi del Consiglio d'Europa.</a:t>
              </a:r>
              <a:endParaRPr b="0" sz="7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Valutazione di Impatto sull'IA:</a:t>
              </a:r>
              <a:endParaRPr b="1" sz="7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Metodologie come </a:t>
              </a:r>
              <a:r>
                <a:rPr b="1" lang="en-US" sz="7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HUDERIA</a:t>
              </a:r>
              <a:r>
                <a:rPr b="0" lang="en-US" sz="7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e la Convenzione quadro sull'IA (2024) integrano i requisiti UE nelle scuole.</a:t>
              </a:r>
              <a:endParaRPr b="0" sz="7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87" name="Google Shape;87;p9"/>
          <p:cNvGrpSpPr/>
          <p:nvPr/>
        </p:nvGrpSpPr>
        <p:grpSpPr>
          <a:xfrm>
            <a:off x="457200" y="3745006"/>
            <a:ext cx="8229600" cy="647700"/>
            <a:chOff x="0" y="0"/>
            <a:chExt cx="8229600" cy="647700"/>
          </a:xfrm>
        </p:grpSpPr>
        <p:sp>
          <p:nvSpPr>
            <p:cNvPr id="88" name="Google Shape;88;p9"/>
            <p:cNvSpPr/>
            <p:nvPr/>
          </p:nvSpPr>
          <p:spPr>
            <a:xfrm>
              <a:off x="0" y="0"/>
              <a:ext cx="8229600" cy="647700"/>
            </a:xfrm>
            <a:prstGeom prst="roundRect">
              <a:avLst>
                <a:gd fmla="val 8823" name="adj"/>
              </a:avLst>
            </a:prstGeom>
            <a:solidFill>
              <a:srgbClr val="EBF2FA"/>
            </a:solidFill>
            <a:ln cap="flat" cmpd="sng" w="9525">
              <a:solidFill>
                <a:srgbClr val="2F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 txBox="1"/>
            <p:nvPr/>
          </p:nvSpPr>
          <p:spPr>
            <a:xfrm>
              <a:off x="114300" y="381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Schema Sintetico dell'Architettura Istituzionale: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Consiglio Europeo</a:t>
              </a:r>
              <a:r>
                <a:rPr b="0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 (Indirizzo) </a:t>
              </a:r>
              <a:r>
                <a:rPr b="0" lang="en-US" sz="700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➔</a:t>
              </a:r>
              <a:r>
                <a:rPr b="0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Commissione UE</a:t>
              </a:r>
              <a:r>
                <a:rPr b="0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 (Iniziativa/Proposte) </a:t>
              </a:r>
              <a:r>
                <a:rPr b="0" lang="en-US" sz="700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➔</a:t>
              </a:r>
              <a:r>
                <a:rPr b="0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b="1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Parlamento UE 👥 ⟺ Consiglio dell'UE 🏛️</a:t>
              </a:r>
              <a:r>
                <a:rPr b="0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 (Co-legislatori paritari)</a:t>
              </a:r>
              <a:endParaRPr b="0" sz="7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Consiglio d'Europa</a:t>
              </a:r>
              <a:r>
                <a:rPr b="0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 (Organizzazione esterna, 46 Paesi) </a:t>
              </a:r>
              <a:r>
                <a:rPr b="0" lang="en-US" sz="700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➔</a:t>
              </a:r>
              <a:r>
                <a:rPr b="0" lang="en-US" sz="7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 Stabilisce la cornice internazionale sui diritti umani e IA che l'UE rispetta e integra.</a:t>
              </a:r>
              <a:endParaRPr b="0" sz="7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0"/>
          <p:cNvSpPr txBox="1"/>
          <p:nvPr/>
        </p:nvSpPr>
        <p:spPr>
          <a:xfrm>
            <a:off x="457200" y="2286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Iter Legislativo: GDPR e AI Act</a:t>
            </a:r>
            <a:endParaRPr b="0" sz="1200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0" name="Google Shape;100;p10"/>
          <p:cNvGrpSpPr/>
          <p:nvPr/>
        </p:nvGrpSpPr>
        <p:grpSpPr>
          <a:xfrm>
            <a:off x="457200" y="1047750"/>
            <a:ext cx="2347474" cy="2190900"/>
            <a:chOff x="0" y="0"/>
            <a:chExt cx="2476500" cy="2190900"/>
          </a:xfrm>
        </p:grpSpPr>
        <p:sp>
          <p:nvSpPr>
            <p:cNvPr id="101" name="Google Shape;101;p10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0" y="0"/>
              <a:ext cx="2476500" cy="342900"/>
            </a:xfrm>
            <a:prstGeom prst="roundRect">
              <a:avLst>
                <a:gd fmla="val 22222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0" y="190500"/>
              <a:ext cx="2476500" cy="1524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0"/>
            <p:cNvSpPr txBox="1"/>
            <p:nvPr/>
          </p:nvSpPr>
          <p:spPr>
            <a:xfrm>
              <a:off x="0" y="0"/>
              <a:ext cx="2476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Fase 1: Proposta Iniziale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190500" y="457200"/>
              <a:ext cx="2095500" cy="266700"/>
            </a:xfrm>
            <a:prstGeom prst="roundRect">
              <a:avLst>
                <a:gd fmla="val 14285" name="adj"/>
              </a:avLst>
            </a:prstGeom>
            <a:solidFill>
              <a:srgbClr val="EBF2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0"/>
            <p:cNvSpPr txBox="1"/>
            <p:nvPr/>
          </p:nvSpPr>
          <p:spPr>
            <a:xfrm>
              <a:off x="190500" y="457200"/>
              <a:ext cx="2095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Commissione Europea</a:t>
              </a:r>
              <a:endParaRPr b="1" sz="11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7" name="Google Shape;107;p10"/>
            <p:cNvSpPr txBox="1"/>
            <p:nvPr/>
          </p:nvSpPr>
          <p:spPr>
            <a:xfrm>
              <a:off x="190500" y="819150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Elabora e presenta formalmente la proposta di regolamento:</a:t>
              </a:r>
              <a:endParaRPr b="0" sz="10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F5D8A"/>
                  </a:solidFill>
                  <a:latin typeface="Lato"/>
                  <a:ea typeface="Lato"/>
                  <a:cs typeface="Lato"/>
                  <a:sym typeface="Lato"/>
                </a:rPr>
                <a:t>• GDPR: </a:t>
              </a: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Proposta presentata nel 2012</a:t>
              </a:r>
              <a:endParaRPr b="1" sz="1000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F5D8A"/>
                  </a:solidFill>
                  <a:latin typeface="Lato"/>
                  <a:ea typeface="Lato"/>
                  <a:cs typeface="Lato"/>
                  <a:sym typeface="Lato"/>
                </a:rPr>
                <a:t>• AI Act: </a:t>
              </a: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Proposta presentata nel 2021</a:t>
              </a:r>
              <a:endParaRPr b="1" sz="1000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8" name="Google Shape;108;p10"/>
          <p:cNvSpPr/>
          <p:nvPr/>
        </p:nvSpPr>
        <p:spPr>
          <a:xfrm>
            <a:off x="2913689" y="1990725"/>
            <a:ext cx="209700" cy="190500"/>
          </a:xfrm>
          <a:custGeom>
            <a:rect b="b" l="l" r="r" t="t"/>
            <a:pathLst>
              <a:path extrusionOk="0" h="120000" w="120000">
                <a:moveTo>
                  <a:pt x="0" y="36000"/>
                </a:moveTo>
                <a:lnTo>
                  <a:pt x="54545" y="36000"/>
                </a:lnTo>
                <a:lnTo>
                  <a:pt x="54545" y="0"/>
                </a:lnTo>
                <a:lnTo>
                  <a:pt x="120000" y="60000"/>
                </a:lnTo>
                <a:lnTo>
                  <a:pt x="54545" y="120000"/>
                </a:lnTo>
                <a:lnTo>
                  <a:pt x="54545" y="84000"/>
                </a:lnTo>
                <a:lnTo>
                  <a:pt x="0" y="84000"/>
                </a:lnTo>
                <a:close/>
              </a:path>
            </a:pathLst>
          </a:custGeom>
          <a:solidFill>
            <a:srgbClr val="2F5D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10"/>
          <p:cNvGrpSpPr/>
          <p:nvPr/>
        </p:nvGrpSpPr>
        <p:grpSpPr>
          <a:xfrm>
            <a:off x="3218489" y="1047750"/>
            <a:ext cx="2476500" cy="2190900"/>
            <a:chOff x="0" y="0"/>
            <a:chExt cx="2476500" cy="2190900"/>
          </a:xfrm>
        </p:grpSpPr>
        <p:sp>
          <p:nvSpPr>
            <p:cNvPr id="110" name="Google Shape;110;p10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0" y="0"/>
              <a:ext cx="2476500" cy="342900"/>
            </a:xfrm>
            <a:prstGeom prst="roundRect">
              <a:avLst>
                <a:gd fmla="val 22222" name="adj"/>
              </a:avLst>
            </a:prstGeom>
            <a:solidFill>
              <a:srgbClr val="2F5D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0" y="190500"/>
              <a:ext cx="2476500" cy="152400"/>
            </a:xfrm>
            <a:prstGeom prst="rect">
              <a:avLst/>
            </a:prstGeom>
            <a:solidFill>
              <a:srgbClr val="2F5D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0"/>
            <p:cNvSpPr txBox="1"/>
            <p:nvPr/>
          </p:nvSpPr>
          <p:spPr>
            <a:xfrm>
              <a:off x="0" y="0"/>
              <a:ext cx="2476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Fase 2: Esame &amp; Negoziato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190500" y="457200"/>
              <a:ext cx="2095500" cy="266700"/>
            </a:xfrm>
            <a:prstGeom prst="roundRect">
              <a:avLst>
                <a:gd fmla="val 14285" name="adj"/>
              </a:avLst>
            </a:prstGeom>
            <a:solidFill>
              <a:srgbClr val="EBF2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0"/>
            <p:cNvSpPr txBox="1"/>
            <p:nvPr/>
          </p:nvSpPr>
          <p:spPr>
            <a:xfrm>
              <a:off x="190500" y="457200"/>
              <a:ext cx="2095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Co-Legislatori Paritari</a:t>
              </a:r>
              <a:endParaRPr b="1" sz="11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6" name="Google Shape;116;p10"/>
            <p:cNvSpPr txBox="1"/>
            <p:nvPr/>
          </p:nvSpPr>
          <p:spPr>
            <a:xfrm>
              <a:off x="190500" y="819150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Discussione, emendamenti e negoziato (Triloghi) tra le due istituzioni:</a:t>
              </a:r>
              <a:endParaRPr b="0" sz="10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Parlamento Europeo </a:t>
              </a: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(Rappresenta i cittadini)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Consiglio dell'UE </a:t>
              </a: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(Rappresenta i Governi)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17" name="Google Shape;117;p10"/>
          <p:cNvSpPr/>
          <p:nvPr/>
        </p:nvSpPr>
        <p:spPr>
          <a:xfrm>
            <a:off x="5803046" y="1990725"/>
            <a:ext cx="209700" cy="190500"/>
          </a:xfrm>
          <a:custGeom>
            <a:rect b="b" l="l" r="r" t="t"/>
            <a:pathLst>
              <a:path extrusionOk="0" h="120000" w="120000">
                <a:moveTo>
                  <a:pt x="0" y="36000"/>
                </a:moveTo>
                <a:lnTo>
                  <a:pt x="54545" y="36000"/>
                </a:lnTo>
                <a:lnTo>
                  <a:pt x="54545" y="0"/>
                </a:lnTo>
                <a:lnTo>
                  <a:pt x="120000" y="60000"/>
                </a:lnTo>
                <a:lnTo>
                  <a:pt x="54545" y="120000"/>
                </a:lnTo>
                <a:lnTo>
                  <a:pt x="54545" y="84000"/>
                </a:lnTo>
                <a:lnTo>
                  <a:pt x="0" y="84000"/>
                </a:lnTo>
                <a:close/>
              </a:path>
            </a:pathLst>
          </a:custGeom>
          <a:solidFill>
            <a:srgbClr val="2F5D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10"/>
          <p:cNvGrpSpPr/>
          <p:nvPr/>
        </p:nvGrpSpPr>
        <p:grpSpPr>
          <a:xfrm>
            <a:off x="6120650" y="1047750"/>
            <a:ext cx="2566149" cy="2190900"/>
            <a:chOff x="0" y="0"/>
            <a:chExt cx="2476500" cy="2190900"/>
          </a:xfrm>
        </p:grpSpPr>
        <p:sp>
          <p:nvSpPr>
            <p:cNvPr id="119" name="Google Shape;119;p10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0" y="0"/>
              <a:ext cx="2476500" cy="342900"/>
            </a:xfrm>
            <a:prstGeom prst="roundRect">
              <a:avLst>
                <a:gd fmla="val 22222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>
              <a:off x="0" y="190500"/>
              <a:ext cx="2476500" cy="1524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0"/>
            <p:cNvSpPr txBox="1"/>
            <p:nvPr/>
          </p:nvSpPr>
          <p:spPr>
            <a:xfrm>
              <a:off x="0" y="0"/>
              <a:ext cx="2476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Fase 3: Approvazione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190500" y="457200"/>
              <a:ext cx="2095500" cy="266700"/>
            </a:xfrm>
            <a:prstGeom prst="roundRect">
              <a:avLst>
                <a:gd fmla="val 14285" name="adj"/>
              </a:avLst>
            </a:prstGeom>
            <a:solidFill>
              <a:srgbClr val="EBF2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0"/>
            <p:cNvSpPr txBox="1"/>
            <p:nvPr/>
          </p:nvSpPr>
          <p:spPr>
            <a:xfrm>
              <a:off x="190500" y="457200"/>
              <a:ext cx="2095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Emanazione Congiunta</a:t>
              </a:r>
              <a:endParaRPr b="1" sz="11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5" name="Google Shape;125;p10"/>
            <p:cNvSpPr txBox="1"/>
            <p:nvPr/>
          </p:nvSpPr>
          <p:spPr>
            <a:xfrm>
              <a:off x="190500" y="819150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Approvazione finale dell'atto da parte di entrambe le istituzioni:</a:t>
              </a:r>
              <a:endParaRPr b="0" sz="10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F5D8A"/>
                  </a:solidFill>
                  <a:latin typeface="Lato"/>
                  <a:ea typeface="Lato"/>
                  <a:cs typeface="Lato"/>
                  <a:sym typeface="Lato"/>
                </a:rPr>
                <a:t>• Regolamento UE 2016/679 </a:t>
              </a: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(GDPR)</a:t>
              </a:r>
              <a:endParaRPr b="1" sz="1000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F5D8A"/>
                  </a:solidFill>
                  <a:latin typeface="Lato"/>
                  <a:ea typeface="Lato"/>
                  <a:cs typeface="Lato"/>
                  <a:sym typeface="Lato"/>
                </a:rPr>
                <a:t>• Regolamento UE 2024/1689 </a:t>
              </a:r>
              <a:r>
                <a:rPr b="0" lang="en-US" sz="10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(AI Act)</a:t>
              </a:r>
              <a:endParaRPr b="1" sz="1000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6" name="Google Shape;126;p10"/>
          <p:cNvGrpSpPr/>
          <p:nvPr/>
        </p:nvGrpSpPr>
        <p:grpSpPr>
          <a:xfrm>
            <a:off x="457200" y="3429000"/>
            <a:ext cx="8229600" cy="809700"/>
            <a:chOff x="0" y="0"/>
            <a:chExt cx="8229600" cy="809700"/>
          </a:xfrm>
        </p:grpSpPr>
        <p:sp>
          <p:nvSpPr>
            <p:cNvPr id="127" name="Google Shape;127;p10"/>
            <p:cNvSpPr/>
            <p:nvPr/>
          </p:nvSpPr>
          <p:spPr>
            <a:xfrm>
              <a:off x="0" y="0"/>
              <a:ext cx="8229600" cy="809700"/>
            </a:xfrm>
            <a:prstGeom prst="roundRect">
              <a:avLst>
                <a:gd fmla="val 9411" name="adj"/>
              </a:avLst>
            </a:prstGeom>
            <a:solidFill>
              <a:srgbClr val="EBF2FA"/>
            </a:solidFill>
            <a:ln cap="flat" cmpd="sng" w="9525">
              <a:solidFill>
                <a:srgbClr val="2F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0"/>
            <p:cNvSpPr txBox="1"/>
            <p:nvPr/>
          </p:nvSpPr>
          <p:spPr>
            <a:xfrm>
              <a:off x="190500" y="114300"/>
              <a:ext cx="78486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Identità di Procedura Legislativa Ordinaria: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Sia per il </a:t>
              </a:r>
              <a:r>
                <a:rPr b="1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GDPR</a:t>
              </a:r>
              <a:r>
                <a:rPr b="0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 che per l'</a:t>
              </a:r>
              <a:r>
                <a:rPr b="1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AI Act</a:t>
              </a:r>
              <a:r>
                <a:rPr b="0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, l'iniziativa è appartenuta in via esclusiva alla </a:t>
              </a:r>
              <a:r>
                <a:rPr b="1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Commissione Europea</a:t>
              </a:r>
              <a:r>
                <a:rPr b="0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, mentre il testo finale è stato negoziato ed emanato congiuntamente dal </a:t>
              </a:r>
              <a:r>
                <a:rPr b="1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Parlamento Europeo</a:t>
              </a:r>
              <a:r>
                <a:rPr b="0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 e dal </a:t>
              </a:r>
              <a:r>
                <a:rPr b="1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Consiglio dell'UE</a:t>
              </a:r>
              <a:r>
                <a:rPr b="0" lang="en-US" sz="900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 in veste di co-legislatori paritari.</a:t>
              </a:r>
              <a:endParaRPr b="0" sz="900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1"/>
          <p:cNvSpPr txBox="1"/>
          <p:nvPr/>
        </p:nvSpPr>
        <p:spPr>
          <a:xfrm>
            <a:off x="457200" y="1905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La Carta dei Diritti Fondamentali dell'UE</a:t>
            </a:r>
            <a:endParaRPr b="1" sz="20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39" name="Google Shape;139;p11"/>
          <p:cNvGrpSpPr/>
          <p:nvPr/>
        </p:nvGrpSpPr>
        <p:grpSpPr>
          <a:xfrm>
            <a:off x="457200" y="1191826"/>
            <a:ext cx="3981600" cy="1997005"/>
            <a:chOff x="0" y="0"/>
            <a:chExt cx="3981600" cy="2876700"/>
          </a:xfrm>
        </p:grpSpPr>
        <p:sp>
          <p:nvSpPr>
            <p:cNvPr id="140" name="Google Shape;140;p11"/>
            <p:cNvSpPr/>
            <p:nvPr/>
          </p:nvSpPr>
          <p:spPr>
            <a:xfrm>
              <a:off x="0" y="0"/>
              <a:ext cx="3981600" cy="266700"/>
            </a:xfrm>
            <a:prstGeom prst="roundRect">
              <a:avLst>
                <a:gd fmla="val 14285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1"/>
            <p:cNvSpPr txBox="1"/>
            <p:nvPr/>
          </p:nvSpPr>
          <p:spPr>
            <a:xfrm>
              <a:off x="0" y="0"/>
              <a:ext cx="398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1. Le Occasioni Storiche e Valore Giuridico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0" y="304800"/>
              <a:ext cx="3981600" cy="2571900"/>
            </a:xfrm>
            <a:prstGeom prst="roundRect">
              <a:avLst>
                <a:gd fmla="val 1481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 txBox="1"/>
            <p:nvPr/>
          </p:nvSpPr>
          <p:spPr>
            <a:xfrm>
              <a:off x="114300" y="400050"/>
              <a:ext cx="3753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Tappe Fondamentali: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7 Dicembre 2000 (Nizza):</a:t>
              </a:r>
              <a:b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Proclamazione ufficiale in occasione del Consiglio Europeo di Nizza.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12 Dicembre 2007 (Strasburgo):</a:t>
              </a:r>
              <a:b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Proclamazione di una versione adattata della Carta.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• Anno 2009 (Trattato di Lisbona):</a:t>
              </a:r>
              <a:b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Con l'entrata in vigore del Trattato di Lisbona, la Carta assume lo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stesso valore giuridico vincolante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dei Trattati dell'Unione Europea.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4" name="Google Shape;144;p11"/>
          <p:cNvGrpSpPr/>
          <p:nvPr/>
        </p:nvGrpSpPr>
        <p:grpSpPr>
          <a:xfrm>
            <a:off x="4705350" y="1191826"/>
            <a:ext cx="3981600" cy="1997005"/>
            <a:chOff x="0" y="0"/>
            <a:chExt cx="3981600" cy="2876700"/>
          </a:xfrm>
        </p:grpSpPr>
        <p:sp>
          <p:nvSpPr>
            <p:cNvPr id="145" name="Google Shape;145;p11"/>
            <p:cNvSpPr/>
            <p:nvPr/>
          </p:nvSpPr>
          <p:spPr>
            <a:xfrm>
              <a:off x="0" y="0"/>
              <a:ext cx="3981600" cy="266700"/>
            </a:xfrm>
            <a:prstGeom prst="roundRect">
              <a:avLst>
                <a:gd fmla="val 14285" name="adj"/>
              </a:avLst>
            </a:prstGeom>
            <a:solidFill>
              <a:srgbClr val="2F5D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 txBox="1"/>
            <p:nvPr/>
          </p:nvSpPr>
          <p:spPr>
            <a:xfrm>
              <a:off x="0" y="0"/>
              <a:ext cx="398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2. Organi e Istituzioni Coinvolte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0" y="304800"/>
              <a:ext cx="3981600" cy="2571900"/>
            </a:xfrm>
            <a:prstGeom prst="roundRect">
              <a:avLst>
                <a:gd fmla="val 1481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 txBox="1"/>
            <p:nvPr/>
          </p:nvSpPr>
          <p:spPr>
            <a:xfrm>
              <a:off x="114300" y="400050"/>
              <a:ext cx="3753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Redazione ed Elaborazione (La Convenzione):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Istituita dal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Consiglio Europeo di Colonia (1999)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e presieduta da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Roman Herzog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. Partecipazione paritaria di: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Rappresentanti dei Capi di Stato e di Governo (15 Stati)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Membri del Parlamento europeo e parlamenti nazionali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Un rappresentante della Commissione europea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Proclamazione Ufficiale Congiunta: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Parlamento europeo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,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Consiglio dell'UE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e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Commissione europea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9" name="Google Shape;149;p11"/>
          <p:cNvGrpSpPr/>
          <p:nvPr/>
        </p:nvGrpSpPr>
        <p:grpSpPr>
          <a:xfrm>
            <a:off x="457200" y="3638550"/>
            <a:ext cx="8229600" cy="743100"/>
            <a:chOff x="0" y="0"/>
            <a:chExt cx="8229600" cy="743100"/>
          </a:xfrm>
        </p:grpSpPr>
        <p:sp>
          <p:nvSpPr>
            <p:cNvPr id="150" name="Google Shape;150;p11"/>
            <p:cNvSpPr/>
            <p:nvPr/>
          </p:nvSpPr>
          <p:spPr>
            <a:xfrm>
              <a:off x="0" y="0"/>
              <a:ext cx="8229600" cy="743100"/>
            </a:xfrm>
            <a:prstGeom prst="roundRect">
              <a:avLst>
                <a:gd fmla="val 7692" name="adj"/>
              </a:avLst>
            </a:prstGeom>
            <a:solidFill>
              <a:srgbClr val="EBF2FA"/>
            </a:solidFill>
            <a:ln cap="flat" cmpd="sng" w="9525">
              <a:solidFill>
                <a:srgbClr val="2F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 txBox="1"/>
            <p:nvPr/>
          </p:nvSpPr>
          <p:spPr>
            <a:xfrm>
              <a:off x="152400" y="76200"/>
              <a:ext cx="79248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Sintesi del Percorso Istituzionale: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Consiglio Europeo di Colonia (1999)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➔ 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Redazione della Convenzione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(Pres. Herzog) ➔ 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Proclamazione a Nizza (2000)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da parte delle 3 Istituzioni UE ➔ 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Valore Vincolante con Lisbona (2009)</a:t>
              </a:r>
              <a:endParaRPr b="0" sz="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2"/>
          <p:cNvSpPr txBox="1"/>
          <p:nvPr/>
        </p:nvSpPr>
        <p:spPr>
          <a:xfrm>
            <a:off x="457200" y="1905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TUE e </a:t>
            </a:r>
            <a:r>
              <a:rPr b="1" lang="en-US" sz="20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TFUE</a:t>
            </a:r>
            <a:endParaRPr b="1" sz="20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62" name="Google Shape;162;p12"/>
          <p:cNvGrpSpPr/>
          <p:nvPr/>
        </p:nvGrpSpPr>
        <p:grpSpPr>
          <a:xfrm>
            <a:off x="457200" y="1190625"/>
            <a:ext cx="3981600" cy="2304900"/>
            <a:chOff x="0" y="0"/>
            <a:chExt cx="3981600" cy="2304900"/>
          </a:xfrm>
        </p:grpSpPr>
        <p:sp>
          <p:nvSpPr>
            <p:cNvPr id="163" name="Google Shape;163;p12"/>
            <p:cNvSpPr/>
            <p:nvPr/>
          </p:nvSpPr>
          <p:spPr>
            <a:xfrm>
              <a:off x="0" y="0"/>
              <a:ext cx="3981600" cy="266700"/>
            </a:xfrm>
            <a:prstGeom prst="roundRect">
              <a:avLst>
                <a:gd fmla="val 10714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2"/>
            <p:cNvSpPr txBox="1"/>
            <p:nvPr/>
          </p:nvSpPr>
          <p:spPr>
            <a:xfrm>
              <a:off x="0" y="0"/>
              <a:ext cx="398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1. Origine e Riforma di Struttura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5" name="Google Shape;165;p12"/>
            <p:cNvSpPr/>
            <p:nvPr/>
          </p:nvSpPr>
          <p:spPr>
            <a:xfrm>
              <a:off x="0" y="304800"/>
              <a:ext cx="3981600" cy="20001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2"/>
            <p:cNvSpPr txBox="1"/>
            <p:nvPr/>
          </p:nvSpPr>
          <p:spPr>
            <a:xfrm>
              <a:off x="114300" y="400050"/>
              <a:ext cx="3753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Origine storica (1957):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Nasce con i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Trattati di Roma (25 marzo 1957)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come Trattato CEE, poi diventato Trattato CE (TCE).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Riforma e denominazione attuale (Lisbona):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Adottato nella struttura attuale tramite il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Trattato di Lisbona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Data di firma: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13 dicembre 2007 a Lisbona.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Entrata in vigore: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1° dicembre 2009.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7" name="Google Shape;167;p12"/>
          <p:cNvGrpSpPr/>
          <p:nvPr/>
        </p:nvGrpSpPr>
        <p:grpSpPr>
          <a:xfrm>
            <a:off x="4705350" y="1190625"/>
            <a:ext cx="3981600" cy="2304900"/>
            <a:chOff x="0" y="0"/>
            <a:chExt cx="3981600" cy="2304900"/>
          </a:xfrm>
        </p:grpSpPr>
        <p:sp>
          <p:nvSpPr>
            <p:cNvPr id="168" name="Google Shape;168;p12"/>
            <p:cNvSpPr/>
            <p:nvPr/>
          </p:nvSpPr>
          <p:spPr>
            <a:xfrm>
              <a:off x="0" y="0"/>
              <a:ext cx="3981600" cy="266700"/>
            </a:xfrm>
            <a:prstGeom prst="roundRect">
              <a:avLst>
                <a:gd fmla="val 10714" name="adj"/>
              </a:avLst>
            </a:prstGeom>
            <a:solidFill>
              <a:srgbClr val="2F5D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2"/>
            <p:cNvSpPr txBox="1"/>
            <p:nvPr/>
          </p:nvSpPr>
          <p:spPr>
            <a:xfrm>
              <a:off x="0" y="0"/>
              <a:ext cx="3981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2. Firma e Ratifica da chi è stato approvato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0" name="Google Shape;170;p12"/>
            <p:cNvSpPr/>
            <p:nvPr/>
          </p:nvSpPr>
          <p:spPr>
            <a:xfrm>
              <a:off x="0" y="304800"/>
              <a:ext cx="3981600" cy="20001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2"/>
            <p:cNvSpPr txBox="1"/>
            <p:nvPr/>
          </p:nvSpPr>
          <p:spPr>
            <a:xfrm>
              <a:off x="114300" y="400050"/>
              <a:ext cx="3753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Adozione e Adozione Politica: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Firmato dai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Capi di Stato o di Governo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dei 27 Stati membri dell'Unione Europea dell'epoca.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Approvazione Giuridica e Ratifica: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• Per la piena efficacia giuridica è stato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ratificato ed approvato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- Dai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parlamenti nazionali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di tutti gli Stati membri.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- In alcuni casi tramite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referendum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popolari.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72" name="Google Shape;172;p12"/>
          <p:cNvGrpSpPr/>
          <p:nvPr/>
        </p:nvGrpSpPr>
        <p:grpSpPr>
          <a:xfrm>
            <a:off x="457200" y="3638550"/>
            <a:ext cx="8229600" cy="743100"/>
            <a:chOff x="0" y="0"/>
            <a:chExt cx="8229600" cy="743100"/>
          </a:xfrm>
        </p:grpSpPr>
        <p:sp>
          <p:nvSpPr>
            <p:cNvPr id="173" name="Google Shape;173;p12"/>
            <p:cNvSpPr/>
            <p:nvPr/>
          </p:nvSpPr>
          <p:spPr>
            <a:xfrm>
              <a:off x="0" y="0"/>
              <a:ext cx="8229600" cy="743100"/>
            </a:xfrm>
            <a:prstGeom prst="roundRect">
              <a:avLst>
                <a:gd fmla="val 7692" name="adj"/>
              </a:avLst>
            </a:prstGeom>
            <a:solidFill>
              <a:srgbClr val="EBF2FA"/>
            </a:solidFill>
            <a:ln cap="flat" cmpd="sng" w="9525">
              <a:solidFill>
                <a:srgbClr val="2F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2"/>
            <p:cNvSpPr txBox="1"/>
            <p:nvPr/>
          </p:nvSpPr>
          <p:spPr>
            <a:xfrm>
              <a:off x="152400" y="76200"/>
              <a:ext cx="79248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Sintesi dell'Approvazione del TFUE:</a:t>
              </a:r>
              <a:endParaRPr b="1" sz="9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Trattati di Roma (1957)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➔ 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Firma a Lisbona (2007)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dai 27 Capi di Stato/Governo ➔ 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Ratifica dei Parlamenti/Referendum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➔ 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Entrata in Vigore (2009)</a:t>
              </a:r>
              <a:endParaRPr b="0" sz="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 txBox="1"/>
          <p:nvPr/>
        </p:nvSpPr>
        <p:spPr>
          <a:xfrm>
            <a:off x="457200" y="1905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TUE, TFUE e la Protezione dei Dati</a:t>
            </a:r>
            <a:endParaRPr b="1" sz="20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85" name="Google Shape;185;p13"/>
          <p:cNvGrpSpPr/>
          <p:nvPr/>
        </p:nvGrpSpPr>
        <p:grpSpPr>
          <a:xfrm>
            <a:off x="619912" y="1286293"/>
            <a:ext cx="2590800" cy="1069384"/>
            <a:chOff x="0" y="0"/>
            <a:chExt cx="2590800" cy="1558188"/>
          </a:xfrm>
        </p:grpSpPr>
        <p:sp>
          <p:nvSpPr>
            <p:cNvPr id="186" name="Google Shape;186;p13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fmla="val 10714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 txBox="1"/>
            <p:nvPr/>
          </p:nvSpPr>
          <p:spPr>
            <a:xfrm>
              <a:off x="0" y="0"/>
              <a:ext cx="2590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TUE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0" y="304788"/>
              <a:ext cx="2590800" cy="1253400"/>
            </a:xfrm>
            <a:prstGeom prst="roundRect">
              <a:avLst>
                <a:gd fmla="val 1176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3"/>
            <p:cNvSpPr txBox="1"/>
            <p:nvPr/>
          </p:nvSpPr>
          <p:spPr>
            <a:xfrm>
              <a:off x="114300" y="400047"/>
              <a:ext cx="2362200" cy="10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Trattato sull'UE: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750"/>
                </a:spcAft>
                <a:buNone/>
              </a:pP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Definisce i </a:t>
              </a:r>
              <a:r>
                <a:rPr b="1" lang="en-US" sz="85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principi fondamentali</a:t>
              </a:r>
              <a:r>
                <a:rPr b="0"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, i valori (dignità umana, democrazia, Stato di diritto), la governance generale e il quadro delle istituzioni.</a:t>
              </a:r>
              <a:endParaRPr b="0"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0" name="Google Shape;190;p13"/>
          <p:cNvGrpSpPr/>
          <p:nvPr/>
        </p:nvGrpSpPr>
        <p:grpSpPr>
          <a:xfrm>
            <a:off x="4435300" y="2932366"/>
            <a:ext cx="2590800" cy="1530269"/>
            <a:chOff x="0" y="0"/>
            <a:chExt cx="2590800" cy="2733600"/>
          </a:xfrm>
        </p:grpSpPr>
        <p:sp>
          <p:nvSpPr>
            <p:cNvPr id="191" name="Google Shape;191;p13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fmla="val 10714" name="adj"/>
              </a:avLst>
            </a:prstGeom>
            <a:solidFill>
              <a:srgbClr val="2F5D8A"/>
            </a:solidFill>
            <a:ln cap="flat" cmpd="sng" w="9525">
              <a:solidFill>
                <a:srgbClr val="2E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3"/>
            <p:cNvSpPr txBox="1"/>
            <p:nvPr/>
          </p:nvSpPr>
          <p:spPr>
            <a:xfrm>
              <a:off x="0" y="0"/>
              <a:ext cx="2590800" cy="266700"/>
            </a:xfrm>
            <a:prstGeom prst="rect">
              <a:avLst/>
            </a:prstGeom>
            <a:noFill/>
            <a:ln cap="flat" cmpd="sng" w="9525">
              <a:solidFill>
                <a:srgbClr val="2E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Articolo 16 del TFUE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0" y="304800"/>
              <a:ext cx="2590800" cy="2428800"/>
            </a:xfrm>
            <a:prstGeom prst="roundRect">
              <a:avLst>
                <a:gd fmla="val 1176" name="adj"/>
              </a:avLst>
            </a:prstGeom>
            <a:solidFill>
              <a:srgbClr val="FFFFFF"/>
            </a:solidFill>
            <a:ln cap="flat" cmpd="sng" w="9525">
              <a:solidFill>
                <a:srgbClr val="2E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 txBox="1"/>
            <p:nvPr/>
          </p:nvSpPr>
          <p:spPr>
            <a:xfrm>
              <a:off x="114300" y="400053"/>
              <a:ext cx="2362200" cy="216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Ogni persona ha diritto alla 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protezione dei dati personali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che la riguardano.</a:t>
              </a:r>
              <a:endParaRPr b="1" sz="8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Il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 Parlamento e Consiglio hanno la competenza sulle norme di tutela e libera circolazione dati.</a:t>
              </a:r>
              <a:endParaRPr b="0" sz="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Applicazione Pratica:</a:t>
              </a:r>
              <a:endParaRPr b="1" sz="10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Base giuridica esclusiva del 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GDPR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e base specifica dell'</a:t>
              </a:r>
              <a:r>
                <a:rPr b="1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AI Act</a:t>
              </a:r>
              <a:r>
                <a:rPr b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per la privacy (es. dati biometrici).</a:t>
              </a:r>
              <a:endParaRPr b="0" sz="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5" name="Google Shape;195;p13"/>
          <p:cNvGrpSpPr/>
          <p:nvPr/>
        </p:nvGrpSpPr>
        <p:grpSpPr>
          <a:xfrm>
            <a:off x="4435288" y="781550"/>
            <a:ext cx="2590812" cy="1921218"/>
            <a:chOff x="0" y="0"/>
            <a:chExt cx="2590812" cy="3306743"/>
          </a:xfrm>
        </p:grpSpPr>
        <p:sp>
          <p:nvSpPr>
            <p:cNvPr id="196" name="Google Shape;196;p13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fmla="val 10714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3"/>
            <p:cNvSpPr txBox="1"/>
            <p:nvPr/>
          </p:nvSpPr>
          <p:spPr>
            <a:xfrm>
              <a:off x="0" y="0"/>
              <a:ext cx="2590800" cy="266700"/>
            </a:xfrm>
            <a:prstGeom prst="rect">
              <a:avLst/>
            </a:prstGeom>
            <a:solidFill>
              <a:srgbClr val="2E5D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Articolo 6 del TUE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12" y="304824"/>
              <a:ext cx="2590800" cy="3001800"/>
            </a:xfrm>
            <a:prstGeom prst="roundRect">
              <a:avLst>
                <a:gd fmla="val 1176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 txBox="1"/>
            <p:nvPr/>
          </p:nvSpPr>
          <p:spPr>
            <a:xfrm>
              <a:off x="114312" y="400043"/>
              <a:ext cx="2362200" cy="290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Definisce il quadro costituzionale per la tutela dei diritti umani nell'Unione, stabilendo che la </a:t>
              </a:r>
              <a:r>
                <a:rPr b="1" i="0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Carta dei diritti fondamentali</a:t>
              </a:r>
              <a:r>
                <a:rPr b="0" i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ha lo stesso valore giuridico vincolante dei Trattati primari.</a:t>
              </a:r>
              <a:endParaRPr b="0" i="0" sz="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i="0" lang="en-US" sz="1023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Applicazione pratica:</a:t>
              </a:r>
              <a:endParaRPr b="0" i="0" sz="1023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Impone che ogni normativa — inclusi </a:t>
              </a:r>
              <a:r>
                <a:rPr b="1" i="0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GDPR</a:t>
              </a:r>
              <a:r>
                <a:rPr b="0" i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e </a:t>
              </a:r>
              <a:r>
                <a:rPr b="1" i="0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AI Act</a:t>
              </a:r>
              <a:r>
                <a:rPr b="0" i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(Regolamento UE 2024/1689) — rispetti i diritti fondamentali. Vincola l'IA a un approccio </a:t>
              </a:r>
              <a:r>
                <a:rPr b="1" i="0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antropocentrico</a:t>
              </a:r>
              <a:r>
                <a:rPr b="0" i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(dignità, privacy, minori), imponendo alle istituzioni la </a:t>
              </a:r>
              <a:r>
                <a:rPr b="1" i="0" lang="en-US" sz="8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Valutazione d'Impatto sui Diritti Fondamentali (FRIA)</a:t>
              </a:r>
              <a:r>
                <a:rPr b="0" i="0" lang="en-US" sz="8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per sistemi ad alto rischio.</a:t>
              </a:r>
              <a:endParaRPr b="0" i="0" sz="8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610864" y="3206816"/>
            <a:ext cx="2590800" cy="1069384"/>
            <a:chOff x="0" y="0"/>
            <a:chExt cx="2590800" cy="1558188"/>
          </a:xfrm>
        </p:grpSpPr>
        <p:sp>
          <p:nvSpPr>
            <p:cNvPr id="201" name="Google Shape;201;p13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fmla="val 10714" name="adj"/>
              </a:avLst>
            </a:prstGeom>
            <a:solidFill>
              <a:srgbClr val="1F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3"/>
            <p:cNvSpPr txBox="1"/>
            <p:nvPr/>
          </p:nvSpPr>
          <p:spPr>
            <a:xfrm>
              <a:off x="0" y="0"/>
              <a:ext cx="2590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TFUE</a:t>
              </a:r>
              <a:endParaRPr b="1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0" y="304788"/>
              <a:ext cx="2590800" cy="1253400"/>
            </a:xfrm>
            <a:prstGeom prst="roundRect">
              <a:avLst>
                <a:gd fmla="val 1176" name="adj"/>
              </a:avLst>
            </a:prstGeom>
            <a:solidFill>
              <a:srgbClr val="FFFFFF"/>
            </a:solidFill>
            <a:ln cap="flat" cmpd="sng" w="9525">
              <a:solidFill>
                <a:srgbClr val="D5DC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3"/>
            <p:cNvSpPr txBox="1"/>
            <p:nvPr/>
          </p:nvSpPr>
          <p:spPr>
            <a:xfrm>
              <a:off x="114300" y="400047"/>
              <a:ext cx="2362200" cy="10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Trattato sul Funzionamento dell’UE:</a:t>
              </a:r>
              <a:endParaRPr b="1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Disciplina nel dettaglio il </a:t>
              </a:r>
              <a:r>
                <a:rPr b="1" lang="en-US" sz="85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funzionamento pratico</a:t>
              </a:r>
              <a:r>
                <a:rPr lang="en-US" sz="85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delle istituzioni, le competenze comunitarie e le singole politiche (mercato interno, protezione dati).</a:t>
              </a:r>
              <a:endParaRPr sz="8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05" name="Google Shape;205;p13"/>
          <p:cNvSpPr/>
          <p:nvPr/>
        </p:nvSpPr>
        <p:spPr>
          <a:xfrm>
            <a:off x="3718168" y="1828000"/>
            <a:ext cx="566700" cy="190500"/>
          </a:xfrm>
          <a:custGeom>
            <a:rect b="b" l="l" r="r" t="t"/>
            <a:pathLst>
              <a:path extrusionOk="0" h="120000" w="120000">
                <a:moveTo>
                  <a:pt x="0" y="36000"/>
                </a:moveTo>
                <a:lnTo>
                  <a:pt x="54545" y="36000"/>
                </a:lnTo>
                <a:lnTo>
                  <a:pt x="54545" y="0"/>
                </a:lnTo>
                <a:lnTo>
                  <a:pt x="120000" y="60000"/>
                </a:lnTo>
                <a:lnTo>
                  <a:pt x="54545" y="120000"/>
                </a:lnTo>
                <a:lnTo>
                  <a:pt x="54545" y="84000"/>
                </a:lnTo>
                <a:lnTo>
                  <a:pt x="0" y="84000"/>
                </a:lnTo>
                <a:close/>
              </a:path>
            </a:pathLst>
          </a:custGeom>
          <a:solidFill>
            <a:srgbClr val="2F5D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3718168" y="3646263"/>
            <a:ext cx="566700" cy="190500"/>
          </a:xfrm>
          <a:custGeom>
            <a:rect b="b" l="l" r="r" t="t"/>
            <a:pathLst>
              <a:path extrusionOk="0" h="120000" w="120000">
                <a:moveTo>
                  <a:pt x="0" y="36000"/>
                </a:moveTo>
                <a:lnTo>
                  <a:pt x="54545" y="36000"/>
                </a:lnTo>
                <a:lnTo>
                  <a:pt x="54545" y="0"/>
                </a:lnTo>
                <a:lnTo>
                  <a:pt x="120000" y="60000"/>
                </a:lnTo>
                <a:lnTo>
                  <a:pt x="54545" y="120000"/>
                </a:lnTo>
                <a:lnTo>
                  <a:pt x="54545" y="84000"/>
                </a:lnTo>
                <a:lnTo>
                  <a:pt x="0" y="84000"/>
                </a:lnTo>
                <a:close/>
              </a:path>
            </a:pathLst>
          </a:custGeom>
          <a:solidFill>
            <a:srgbClr val="2F5D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lang="en-US"/>
              <a:t>Quadro</a:t>
            </a:r>
            <a:r>
              <a:rPr b="1" lang="en-US" sz="2600">
                <a:solidFill>
                  <a:srgbClr val="1F2937"/>
                </a:solidFill>
              </a:rPr>
              <a:t> normativ</a:t>
            </a:r>
            <a:r>
              <a:rPr lang="en-US"/>
              <a:t>o</a:t>
            </a:r>
            <a:r>
              <a:rPr b="1" lang="en-US" sz="2600">
                <a:solidFill>
                  <a:srgbClr val="1F2937"/>
                </a:solidFill>
              </a:rPr>
              <a:t> </a:t>
            </a:r>
            <a:r>
              <a:rPr lang="en-US"/>
              <a:t>E</a:t>
            </a:r>
            <a:r>
              <a:rPr b="1" lang="en-US" sz="2600">
                <a:solidFill>
                  <a:srgbClr val="1F2937"/>
                </a:solidFill>
              </a:rPr>
              <a:t>urope</a:t>
            </a:r>
            <a:r>
              <a:rPr lang="en-US"/>
              <a:t>o /1</a:t>
            </a:r>
            <a:endParaRPr sz="2600"/>
          </a:p>
        </p:txBody>
      </p:sp>
      <p:sp>
        <p:nvSpPr>
          <p:cNvPr id="213" name="Google Shape;213;p14"/>
          <p:cNvSpPr txBox="1"/>
          <p:nvPr/>
        </p:nvSpPr>
        <p:spPr>
          <a:xfrm>
            <a:off x="540600" y="1251300"/>
            <a:ext cx="5604600" cy="310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2250" lvl="0" marL="3429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Lato"/>
              <a:buChar char="●"/>
            </a:pPr>
            <a:r>
              <a:rPr b="1" lang="en-US" sz="17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GDPR:  </a:t>
            </a:r>
            <a:r>
              <a:rPr b="1"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Regolamento UE 2016/679</a:t>
            </a:r>
            <a:endParaRPr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(Pubblicazione ufficiale GU L 119 del 04.05.2016)</a:t>
            </a:r>
            <a:endParaRPr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2250" lvl="0" marL="342900" rtl="0" algn="l">
              <a:spcBef>
                <a:spcPts val="140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Lato"/>
              <a:buChar char="●"/>
            </a:pPr>
            <a:r>
              <a:rPr b="1" lang="en-US" sz="17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AI Act: </a:t>
            </a:r>
            <a:r>
              <a:rPr b="1"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Regolamento UE 2024/1689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(Pubblicazione ufficiale GU 2024/1689 del 12.07.2024)</a:t>
            </a:r>
            <a:endParaRPr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2250" lvl="0" marL="342900" rtl="0" algn="l">
              <a:spcBef>
                <a:spcPts val="140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Lato"/>
              <a:buChar char="●"/>
            </a:pPr>
            <a:r>
              <a:rPr b="1" lang="en-US" sz="17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Carta dei diritti fondamentali dell'Unione Europea</a:t>
            </a:r>
            <a:endParaRPr b="1" sz="17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Pubblicazione ufficiale GU C 306 del 17.12.2007, </a:t>
            </a:r>
            <a:r>
              <a:rPr lang="en-US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i</a:t>
            </a:r>
            <a:r>
              <a:rPr b="0" lang="en-US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n vigore dal 1° dicembre 2009 </a:t>
            </a:r>
            <a:r>
              <a:rPr lang="en-US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a seguito del Trattato di Lisbona</a:t>
            </a:r>
            <a:r>
              <a:rPr b="0" lang="en-US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0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4" name="Google Shape;21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9813" y="1251300"/>
            <a:ext cx="973949" cy="97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8263" y="2297775"/>
            <a:ext cx="1477043" cy="82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7">
            <a:alphaModFix/>
          </a:blip>
          <a:srcRect b="9574" l="29585" r="27963" t="9969"/>
          <a:stretch/>
        </p:blipFill>
        <p:spPr>
          <a:xfrm>
            <a:off x="6779923" y="3120675"/>
            <a:ext cx="1193725" cy="123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/>
        </p:nvSpPr>
        <p:spPr>
          <a:xfrm>
            <a:off x="457200" y="1905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Quadro normativo Europeo /2</a:t>
            </a:r>
            <a:endParaRPr b="1" sz="24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226" name="Google Shape;226;p15"/>
          <p:cNvGrpSpPr/>
          <p:nvPr/>
        </p:nvGrpSpPr>
        <p:grpSpPr>
          <a:xfrm>
            <a:off x="2353194" y="814026"/>
            <a:ext cx="4210200" cy="705000"/>
            <a:chOff x="-9525" y="-9525"/>
            <a:chExt cx="4210200" cy="705000"/>
          </a:xfrm>
        </p:grpSpPr>
        <p:pic>
          <p:nvPicPr>
            <p:cNvPr id="227" name="Google Shape;227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4210200" cy="7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5"/>
            <p:cNvSpPr txBox="1"/>
            <p:nvPr/>
          </p:nvSpPr>
          <p:spPr>
            <a:xfrm>
              <a:off x="95250" y="95250"/>
              <a:ext cx="40005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CARTA DEI DIRITTI FONDAMENTALI DELL'UNIONE EUROPEA</a:t>
              </a:r>
              <a:endParaRPr b="1" sz="110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B45309"/>
                  </a:solidFill>
                  <a:latin typeface="Lato"/>
                  <a:ea typeface="Lato"/>
                  <a:cs typeface="Lato"/>
                  <a:sym typeface="Lato"/>
                </a:rPr>
                <a:t>FONDAMENTO GIURIDICO UNICO</a:t>
              </a:r>
              <a:endParaRPr b="1" sz="95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29" name="Google Shape;229;p15"/>
          <p:cNvGrpSpPr/>
          <p:nvPr/>
        </p:nvGrpSpPr>
        <p:grpSpPr>
          <a:xfrm>
            <a:off x="343934" y="1905000"/>
            <a:ext cx="3810000" cy="1952700"/>
            <a:chOff x="0" y="0"/>
            <a:chExt cx="3810000" cy="1952700"/>
          </a:xfrm>
        </p:grpSpPr>
        <p:sp>
          <p:nvSpPr>
            <p:cNvPr id="230" name="Google Shape;230;p15"/>
            <p:cNvSpPr/>
            <p:nvPr/>
          </p:nvSpPr>
          <p:spPr>
            <a:xfrm>
              <a:off x="0" y="0"/>
              <a:ext cx="3810000" cy="1952700"/>
            </a:xfrm>
            <a:prstGeom prst="roundRect">
              <a:avLst>
                <a:gd fmla="val 4878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1" name="Google Shape;231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38100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5"/>
            <p:cNvSpPr txBox="1"/>
            <p:nvPr/>
          </p:nvSpPr>
          <p:spPr>
            <a:xfrm>
              <a:off x="142875" y="76200"/>
              <a:ext cx="3524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GDPR </a:t>
              </a:r>
              <a:r>
                <a:rPr b="0" lang="en-US" sz="1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(Reg. UE 2016/679)</a:t>
              </a:r>
              <a:endParaRPr b="1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15"/>
            <p:cNvSpPr txBox="1"/>
            <p:nvPr/>
          </p:nvSpPr>
          <p:spPr>
            <a:xfrm>
              <a:off x="190500" y="495300"/>
              <a:ext cx="28575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57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TUTELA DEI DATI PERSONALI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PRINCIPI: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Licenziosità, correttezza, trasparenza, minimizzazione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DIRITTI DEGLI INTERESSATI: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Accesso, rettifica, cancellazione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VALUTAZIONE DI IMPATTO (DPIA)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4" name="Google Shape;234;p15"/>
          <p:cNvGrpSpPr/>
          <p:nvPr/>
        </p:nvGrpSpPr>
        <p:grpSpPr>
          <a:xfrm>
            <a:off x="4762500" y="1905000"/>
            <a:ext cx="3810000" cy="1952700"/>
            <a:chOff x="0" y="0"/>
            <a:chExt cx="3810000" cy="1952700"/>
          </a:xfrm>
        </p:grpSpPr>
        <p:sp>
          <p:nvSpPr>
            <p:cNvPr id="235" name="Google Shape;235;p15"/>
            <p:cNvSpPr/>
            <p:nvPr/>
          </p:nvSpPr>
          <p:spPr>
            <a:xfrm>
              <a:off x="0" y="0"/>
              <a:ext cx="3810000" cy="1952700"/>
            </a:xfrm>
            <a:prstGeom prst="roundRect">
              <a:avLst>
                <a:gd fmla="val 4878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" name="Google Shape;236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38100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5"/>
            <p:cNvSpPr txBox="1"/>
            <p:nvPr/>
          </p:nvSpPr>
          <p:spPr>
            <a:xfrm>
              <a:off x="142875" y="76200"/>
              <a:ext cx="3524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AI ACT </a:t>
              </a:r>
              <a:r>
                <a:rPr b="0" lang="en-US" sz="1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(Reg. UE 2024/1689)</a:t>
              </a:r>
              <a:endParaRPr b="1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8" name="Google Shape;238;p15"/>
            <p:cNvSpPr txBox="1"/>
            <p:nvPr/>
          </p:nvSpPr>
          <p:spPr>
            <a:xfrm>
              <a:off x="190500" y="476250"/>
              <a:ext cx="28575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57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REGOLAZIONE DELL'INTELLIGENZA ARTIFICIALE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GESTIONE DEL RISCHIO</a:t>
              </a:r>
              <a:r>
                <a:rPr b="0" lang="en-US" sz="9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(approccio basato sul rischio)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SISTEMI AD ALTO RISCHIO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REQUISITI PER FORNITORI E DEPLOYER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900"/>
                <a:buFont typeface="Lato"/>
                <a:buChar char="●"/>
              </a:pPr>
              <a:r>
                <a:rPr b="1" lang="en-US" sz="1000">
                  <a:solidFill>
                    <a:srgbClr val="1F3A5F"/>
                  </a:solidFill>
                  <a:latin typeface="Lato"/>
                  <a:ea typeface="Lato"/>
                  <a:cs typeface="Lato"/>
                  <a:sym typeface="Lato"/>
                </a:rPr>
                <a:t>TRASPARENZA PER ALCUNI SISTEMI</a:t>
              </a:r>
              <a:endParaRPr b="0" sz="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39" name="Google Shape;239;p15"/>
          <p:cNvSpPr txBox="1"/>
          <p:nvPr/>
        </p:nvSpPr>
        <p:spPr>
          <a:xfrm>
            <a:off x="2911453" y="4103425"/>
            <a:ext cx="3238500" cy="324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rPr>
              <a:t>INTERCONNESSIONE E COORDINAMENTO</a:t>
            </a:r>
            <a:endParaRPr b="1" sz="850">
              <a:solidFill>
                <a:srgbClr val="1F3A5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75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F3A5F"/>
                </a:solidFill>
                <a:latin typeface="Lato"/>
                <a:ea typeface="Lato"/>
                <a:cs typeface="Lato"/>
                <a:sym typeface="Lato"/>
              </a:rPr>
              <a:t>RECIPROCO RISPETTO DEGLI OBBLIGHI</a:t>
            </a:r>
            <a:endParaRPr b="1" sz="850">
              <a:solidFill>
                <a:srgbClr val="1F3A5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0" name="Google Shape;240;p15"/>
          <p:cNvCxnSpPr>
            <a:stCxn id="227" idx="1"/>
            <a:endCxn id="231" idx="0"/>
          </p:cNvCxnSpPr>
          <p:nvPr/>
        </p:nvCxnSpPr>
        <p:spPr>
          <a:xfrm flipH="1">
            <a:off x="2248794" y="1166526"/>
            <a:ext cx="104400" cy="73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15"/>
          <p:cNvCxnSpPr>
            <a:stCxn id="227" idx="3"/>
            <a:endCxn id="236" idx="0"/>
          </p:cNvCxnSpPr>
          <p:nvPr/>
        </p:nvCxnSpPr>
        <p:spPr>
          <a:xfrm>
            <a:off x="6563394" y="1166526"/>
            <a:ext cx="104100" cy="73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15"/>
          <p:cNvCxnSpPr>
            <a:stCxn id="230" idx="2"/>
            <a:endCxn id="239" idx="1"/>
          </p:cNvCxnSpPr>
          <p:nvPr/>
        </p:nvCxnSpPr>
        <p:spPr>
          <a:xfrm flipH="1" rot="-5400000">
            <a:off x="2376284" y="3730350"/>
            <a:ext cx="407700" cy="662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15"/>
          <p:cNvCxnSpPr>
            <a:stCxn id="235" idx="2"/>
            <a:endCxn id="239" idx="3"/>
          </p:cNvCxnSpPr>
          <p:nvPr/>
        </p:nvCxnSpPr>
        <p:spPr>
          <a:xfrm rot="5400000">
            <a:off x="6204900" y="3802800"/>
            <a:ext cx="407700" cy="5175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4" name="Google Shape;244;p15" title="Screenshot 2026-10-05 at 21.40.5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2825" y="2375058"/>
            <a:ext cx="435000" cy="1257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5" title="Screenshot 2026-10-05 at 21.41.2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3703" y="2376126"/>
            <a:ext cx="435000" cy="125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lang="en-US"/>
              <a:t>Quadro</a:t>
            </a:r>
            <a:r>
              <a:rPr b="1" lang="en-US" sz="2600">
                <a:solidFill>
                  <a:srgbClr val="1F2937"/>
                </a:solidFill>
              </a:rPr>
              <a:t> normativ</a:t>
            </a:r>
            <a:r>
              <a:rPr lang="en-US"/>
              <a:t>o</a:t>
            </a:r>
            <a:r>
              <a:rPr b="1" lang="en-US" sz="2600">
                <a:solidFill>
                  <a:srgbClr val="1F2937"/>
                </a:solidFill>
              </a:rPr>
              <a:t> </a:t>
            </a:r>
            <a:r>
              <a:rPr lang="en-US"/>
              <a:t>Italiano /1</a:t>
            </a:r>
            <a:endParaRPr sz="2600"/>
          </a:p>
        </p:txBody>
      </p:sp>
      <p:sp>
        <p:nvSpPr>
          <p:cNvPr id="252" name="Google Shape;252;p16"/>
          <p:cNvSpPr txBox="1"/>
          <p:nvPr/>
        </p:nvSpPr>
        <p:spPr>
          <a:xfrm>
            <a:off x="457200" y="1238250"/>
            <a:ext cx="4191000" cy="30480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6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D.Lgs. 196/2003 e D.Lgs. 101/2018: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-US" sz="1400">
                <a:solidFill>
                  <a:srgbClr val="FFFFFF"/>
                </a:solidFill>
                <a:highlight>
                  <a:srgbClr val="1E40AF"/>
                </a:highlight>
                <a:latin typeface="Lato"/>
                <a:ea typeface="Lato"/>
                <a:cs typeface="Lato"/>
                <a:sym typeface="Lato"/>
              </a:rPr>
              <a:t>Codice Privacy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18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DM 9 agosto 2025, n. 166: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lang="en-US" sz="14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Linee guida scuola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18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Legge 23 settembre 2025, n. 132: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lang="en-US" sz="14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delega IA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3" name="Google Shape;253;p16"/>
          <p:cNvGrpSpPr/>
          <p:nvPr/>
        </p:nvGrpSpPr>
        <p:grpSpPr>
          <a:xfrm>
            <a:off x="4905375" y="1143000"/>
            <a:ext cx="4067100" cy="3238500"/>
            <a:chOff x="0" y="0"/>
            <a:chExt cx="4067100" cy="3238500"/>
          </a:xfrm>
        </p:grpSpPr>
        <p:sp>
          <p:nvSpPr>
            <p:cNvPr id="254" name="Google Shape;254;p16"/>
            <p:cNvSpPr/>
            <p:nvPr/>
          </p:nvSpPr>
          <p:spPr>
            <a:xfrm>
              <a:off x="0" y="0"/>
              <a:ext cx="4067100" cy="3238500"/>
            </a:xfrm>
            <a:custGeom>
              <a:rect b="b" l="l" r="r" t="t"/>
              <a:pathLst>
                <a:path extrusionOk="0" h="120000" w="120000">
                  <a:moveTo>
                    <a:pt x="8431" y="0"/>
                  </a:moveTo>
                  <a:lnTo>
                    <a:pt x="116628" y="0"/>
                  </a:lnTo>
                  <a:cubicBezTo>
                    <a:pt x="118490" y="0"/>
                    <a:pt x="120000" y="1896"/>
                    <a:pt x="120000" y="4235"/>
                  </a:cubicBezTo>
                  <a:lnTo>
                    <a:pt x="120000" y="115765"/>
                  </a:lnTo>
                  <a:cubicBezTo>
                    <a:pt x="120000" y="118104"/>
                    <a:pt x="118490" y="120000"/>
                    <a:pt x="116628" y="120000"/>
                  </a:cubicBezTo>
                  <a:lnTo>
                    <a:pt x="8431" y="120000"/>
                  </a:lnTo>
                  <a:cubicBezTo>
                    <a:pt x="7537" y="120000"/>
                    <a:pt x="6679" y="119555"/>
                    <a:pt x="6046" y="118760"/>
                  </a:cubicBezTo>
                  <a:cubicBezTo>
                    <a:pt x="5414" y="117965"/>
                    <a:pt x="5059" y="116888"/>
                    <a:pt x="5059" y="115765"/>
                  </a:cubicBezTo>
                  <a:lnTo>
                    <a:pt x="5059" y="28235"/>
                  </a:lnTo>
                  <a:lnTo>
                    <a:pt x="0" y="22941"/>
                  </a:lnTo>
                  <a:lnTo>
                    <a:pt x="5059" y="17647"/>
                  </a:lnTo>
                  <a:lnTo>
                    <a:pt x="5059" y="4235"/>
                  </a:lnTo>
                  <a:cubicBezTo>
                    <a:pt x="5059" y="1896"/>
                    <a:pt x="6569" y="0"/>
                    <a:pt x="8431" y="0"/>
                  </a:cubicBezTo>
                  <a:close/>
                </a:path>
              </a:pathLst>
            </a:custGeom>
            <a:solidFill>
              <a:srgbClr val="EFF6FF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6"/>
            <p:cNvSpPr txBox="1"/>
            <p:nvPr/>
          </p:nvSpPr>
          <p:spPr>
            <a:xfrm>
              <a:off x="285750" y="114300"/>
              <a:ext cx="3619500" cy="3009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Codice Privacy (D.Lgs. 196/2003 e 101/2018)</a:t>
              </a:r>
              <a:endParaRPr b="1" sz="125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i="1" lang="en-US" sz="100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(Legge di Rango Primario / Base Generale Tutela Dati)</a:t>
              </a:r>
              <a:endParaRPr b="1" sz="10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50825" lvl="0" marL="285750" rtl="0" algn="l">
                <a:spcBef>
                  <a:spcPts val="800"/>
                </a:spcBef>
                <a:spcAft>
                  <a:spcPts val="0"/>
                </a:spcAft>
                <a:buClr>
                  <a:srgbClr val="1E40AF"/>
                </a:buClr>
                <a:buSzPts val="1250"/>
                <a:buFont typeface="Lato"/>
                <a:buChar char="●"/>
              </a:pPr>
              <a:r>
                <a:rPr b="0" lang="en-US" sz="10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Rappresenta la legge di rango primario in Italia per l'adeguamento dell'ordinamento interno al GDPR (Regolamento UE 2016/679).</a:t>
              </a:r>
              <a:endParaRPr b="1" sz="125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50825" lvl="0" marL="285750" rtl="0" algn="l">
                <a:spcBef>
                  <a:spcPts val="600"/>
                </a:spcBef>
                <a:spcAft>
                  <a:spcPts val="0"/>
                </a:spcAft>
                <a:buClr>
                  <a:srgbClr val="1E40AF"/>
                </a:buClr>
                <a:buSzPts val="1250"/>
                <a:buFont typeface="Lato"/>
                <a:buChar char="●"/>
              </a:pPr>
              <a:r>
                <a:rPr b="0" lang="en-US" sz="10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Definisce le regole generali, le competenze del Garante, le tutele e i requisiti di liceità del trattamento dei dati personali.</a:t>
              </a:r>
              <a:endParaRPr b="1" sz="125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50825" lvl="0" marL="285750" rtl="0" algn="l">
                <a:spcBef>
                  <a:spcPts val="600"/>
                </a:spcBef>
                <a:spcAft>
                  <a:spcPts val="0"/>
                </a:spcAft>
                <a:buClr>
                  <a:srgbClr val="1E40AF"/>
                </a:buClr>
                <a:buSzPts val="1250"/>
                <a:buFont typeface="Lato"/>
                <a:buChar char="●"/>
              </a:pPr>
              <a:r>
                <a:rPr b="0" lang="en-US" sz="10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Si applica a tutti i soggetti pubblici, comprese le istituzioni scolastiche.</a:t>
              </a:r>
              <a:endParaRPr b="1" sz="125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lang="en-US"/>
              <a:t>Quadro</a:t>
            </a:r>
            <a:r>
              <a:rPr b="1" lang="en-US" sz="2600">
                <a:solidFill>
                  <a:srgbClr val="1F2937"/>
                </a:solidFill>
              </a:rPr>
              <a:t> normativ</a:t>
            </a:r>
            <a:r>
              <a:rPr lang="en-US"/>
              <a:t>o</a:t>
            </a:r>
            <a:r>
              <a:rPr b="1" lang="en-US" sz="2600">
                <a:solidFill>
                  <a:srgbClr val="1F2937"/>
                </a:solidFill>
              </a:rPr>
              <a:t> </a:t>
            </a:r>
            <a:r>
              <a:rPr lang="en-US"/>
              <a:t>Italiano /2</a:t>
            </a:r>
            <a:endParaRPr sz="2600"/>
          </a:p>
        </p:txBody>
      </p:sp>
      <p:sp>
        <p:nvSpPr>
          <p:cNvPr id="262" name="Google Shape;262;p17"/>
          <p:cNvSpPr txBox="1"/>
          <p:nvPr/>
        </p:nvSpPr>
        <p:spPr>
          <a:xfrm>
            <a:off x="457200" y="1238250"/>
            <a:ext cx="4191000" cy="30480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D.Lgs. 196/2003 e D.Lgs. 101/2018: 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lang="en-US" sz="14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Codice Privacy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18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6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DM 9 agosto 2025, n. 166:</a:t>
            </a:r>
            <a: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-US" sz="1400">
                <a:solidFill>
                  <a:srgbClr val="FFFFFF"/>
                </a:solidFill>
                <a:highlight>
                  <a:srgbClr val="1E40AF"/>
                </a:highlight>
                <a:latin typeface="Lato"/>
                <a:ea typeface="Lato"/>
                <a:cs typeface="Lato"/>
                <a:sym typeface="Lato"/>
              </a:rPr>
              <a:t>Linee guida scuola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18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Legge 23 settembre 2025, n. 132: 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lang="en-US" sz="14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delega IA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3" name="Google Shape;263;p17"/>
          <p:cNvGrpSpPr/>
          <p:nvPr/>
        </p:nvGrpSpPr>
        <p:grpSpPr>
          <a:xfrm>
            <a:off x="4905375" y="1143000"/>
            <a:ext cx="4067100" cy="3238500"/>
            <a:chOff x="0" y="0"/>
            <a:chExt cx="4067100" cy="3238500"/>
          </a:xfrm>
        </p:grpSpPr>
        <p:sp>
          <p:nvSpPr>
            <p:cNvPr id="264" name="Google Shape;264;p17"/>
            <p:cNvSpPr/>
            <p:nvPr/>
          </p:nvSpPr>
          <p:spPr>
            <a:xfrm>
              <a:off x="0" y="0"/>
              <a:ext cx="4067100" cy="3238500"/>
            </a:xfrm>
            <a:custGeom>
              <a:rect b="b" l="l" r="r" t="t"/>
              <a:pathLst>
                <a:path extrusionOk="0" h="120000" w="120000">
                  <a:moveTo>
                    <a:pt x="8431" y="0"/>
                  </a:moveTo>
                  <a:lnTo>
                    <a:pt x="116628" y="0"/>
                  </a:lnTo>
                  <a:cubicBezTo>
                    <a:pt x="118490" y="0"/>
                    <a:pt x="120000" y="1896"/>
                    <a:pt x="120000" y="4235"/>
                  </a:cubicBezTo>
                  <a:lnTo>
                    <a:pt x="120000" y="115765"/>
                  </a:lnTo>
                  <a:cubicBezTo>
                    <a:pt x="120000" y="118104"/>
                    <a:pt x="118490" y="120000"/>
                    <a:pt x="116628" y="120000"/>
                  </a:cubicBezTo>
                  <a:lnTo>
                    <a:pt x="8431" y="120000"/>
                  </a:lnTo>
                  <a:cubicBezTo>
                    <a:pt x="7537" y="120000"/>
                    <a:pt x="6679" y="119555"/>
                    <a:pt x="6046" y="118760"/>
                  </a:cubicBezTo>
                  <a:cubicBezTo>
                    <a:pt x="5414" y="117965"/>
                    <a:pt x="5059" y="116888"/>
                    <a:pt x="5059" y="115765"/>
                  </a:cubicBezTo>
                  <a:lnTo>
                    <a:pt x="5059" y="65294"/>
                  </a:lnTo>
                  <a:lnTo>
                    <a:pt x="0" y="60000"/>
                  </a:lnTo>
                  <a:lnTo>
                    <a:pt x="5059" y="54706"/>
                  </a:lnTo>
                  <a:lnTo>
                    <a:pt x="5059" y="4235"/>
                  </a:lnTo>
                  <a:cubicBezTo>
                    <a:pt x="5059" y="1896"/>
                    <a:pt x="6569" y="0"/>
                    <a:pt x="8431" y="0"/>
                  </a:cubicBezTo>
                  <a:close/>
                </a:path>
              </a:pathLst>
            </a:custGeom>
            <a:solidFill>
              <a:srgbClr val="EFF6FF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285750" y="114300"/>
              <a:ext cx="36195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D.M. 9 agosto 2025, n. 166</a:t>
              </a:r>
              <a:endParaRPr b="1" sz="125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i="1" lang="en-US" sz="100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(Atto Amministrativo / Linee Guida di Settore)</a:t>
              </a:r>
              <a:endParaRPr b="1" i="1" sz="10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50825" lvl="0" marL="285750" rtl="0" algn="l">
                <a:spcBef>
                  <a:spcPts val="800"/>
                </a:spcBef>
                <a:spcAft>
                  <a:spcPts val="0"/>
                </a:spcAft>
                <a:buClr>
                  <a:srgbClr val="1E40AF"/>
                </a:buClr>
                <a:buSzPts val="1250"/>
                <a:buFont typeface="Lato"/>
                <a:buChar char="●"/>
              </a:pPr>
              <a:r>
                <a:rPr b="0" lang="en-US" sz="10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Provvedimento applicativo di settore emanato dal Ministero dell'Istruzione e del Merito (gestione Piattaforma Unica).</a:t>
              </a:r>
              <a:endParaRPr b="1" sz="125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50825" lvl="0" marL="285750" rtl="0" algn="l">
                <a:spcBef>
                  <a:spcPts val="600"/>
                </a:spcBef>
                <a:spcAft>
                  <a:spcPts val="0"/>
                </a:spcAft>
                <a:buClr>
                  <a:srgbClr val="1E40AF"/>
                </a:buClr>
                <a:buSzPts val="1250"/>
                <a:buFont typeface="Lato"/>
                <a:buChar char="●"/>
              </a:pPr>
              <a:r>
                <a:rPr b="0" lang="en-US" sz="10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Cala i principi generali della normativa nelle attività quotidiane delle scuole.</a:t>
              </a:r>
              <a:endParaRPr b="1" sz="125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50825" lvl="0" marL="285750" rtl="0" algn="l">
                <a:spcBef>
                  <a:spcPts val="600"/>
                </a:spcBef>
                <a:spcAft>
                  <a:spcPts val="0"/>
                </a:spcAft>
                <a:buClr>
                  <a:srgbClr val="1E40AF"/>
                </a:buClr>
                <a:buSzPts val="1250"/>
                <a:buFont typeface="Lato"/>
                <a:buChar char="●"/>
              </a:pPr>
              <a:r>
                <a:rPr b="0" lang="en-US" sz="10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Fornisce indicazioni operative su classificazione del rischio, ruoli di sistema (DS, DPO, DSGA, docenti), DPIA/FRIA e tutela dati dei minori.</a:t>
              </a:r>
              <a:endParaRPr b="1" sz="125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lang="en-US"/>
              <a:t>Quadro</a:t>
            </a:r>
            <a:r>
              <a:rPr b="1" lang="en-US" sz="2600">
                <a:solidFill>
                  <a:srgbClr val="1F2937"/>
                </a:solidFill>
              </a:rPr>
              <a:t> normativ</a:t>
            </a:r>
            <a:r>
              <a:rPr lang="en-US"/>
              <a:t>o</a:t>
            </a:r>
            <a:r>
              <a:rPr b="1" lang="en-US" sz="2600">
                <a:solidFill>
                  <a:srgbClr val="1F2937"/>
                </a:solidFill>
              </a:rPr>
              <a:t> </a:t>
            </a:r>
            <a:r>
              <a:rPr lang="en-US"/>
              <a:t>Italiano /3</a:t>
            </a:r>
            <a:endParaRPr sz="2600"/>
          </a:p>
        </p:txBody>
      </p:sp>
      <p:sp>
        <p:nvSpPr>
          <p:cNvPr id="272" name="Google Shape;272;p18"/>
          <p:cNvSpPr txBox="1"/>
          <p:nvPr/>
        </p:nvSpPr>
        <p:spPr>
          <a:xfrm>
            <a:off x="457200" y="1238250"/>
            <a:ext cx="4191000" cy="30480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D.Lgs. 196/2003 e D.Lgs. 101/2018: 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-US" sz="14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Codice Privacy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18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DM 9 agosto 2025, n. 166: 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-US" sz="14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Linee guida scuola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18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Char char="●"/>
            </a:pPr>
            <a:r>
              <a:rPr b="1" lang="en-US" sz="16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Legge 23 settembre 2025, n. 132:</a:t>
            </a:r>
            <a: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1" lang="en-US" sz="150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-US" sz="1400">
                <a:solidFill>
                  <a:srgbClr val="FAFAFA"/>
                </a:solidFill>
                <a:highlight>
                  <a:srgbClr val="1E40AF"/>
                </a:highlight>
                <a:latin typeface="Lato"/>
                <a:ea typeface="Lato"/>
                <a:cs typeface="Lato"/>
                <a:sym typeface="Lato"/>
              </a:rPr>
              <a:t>delega IA</a:t>
            </a:r>
            <a:endParaRPr b="1" sz="1500">
              <a:solidFill>
                <a:srgbClr val="1F2937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3" name="Google Shape;273;p18"/>
          <p:cNvGrpSpPr/>
          <p:nvPr/>
        </p:nvGrpSpPr>
        <p:grpSpPr>
          <a:xfrm>
            <a:off x="4762500" y="1143000"/>
            <a:ext cx="4067100" cy="3238500"/>
            <a:chOff x="-142875" y="0"/>
            <a:chExt cx="4067100" cy="3238500"/>
          </a:xfrm>
        </p:grpSpPr>
        <p:sp>
          <p:nvSpPr>
            <p:cNvPr id="274" name="Google Shape;274;p18"/>
            <p:cNvSpPr/>
            <p:nvPr/>
          </p:nvSpPr>
          <p:spPr>
            <a:xfrm>
              <a:off x="-142875" y="0"/>
              <a:ext cx="4067100" cy="3238500"/>
            </a:xfrm>
            <a:custGeom>
              <a:rect b="b" l="l" r="r" t="t"/>
              <a:pathLst>
                <a:path extrusionOk="0" h="120000" w="120000">
                  <a:moveTo>
                    <a:pt x="8431" y="0"/>
                  </a:moveTo>
                  <a:lnTo>
                    <a:pt x="116628" y="0"/>
                  </a:lnTo>
                  <a:cubicBezTo>
                    <a:pt x="118490" y="0"/>
                    <a:pt x="120000" y="1896"/>
                    <a:pt x="120000" y="4235"/>
                  </a:cubicBezTo>
                  <a:lnTo>
                    <a:pt x="120000" y="115765"/>
                  </a:lnTo>
                  <a:cubicBezTo>
                    <a:pt x="120000" y="118104"/>
                    <a:pt x="118490" y="120000"/>
                    <a:pt x="116628" y="120000"/>
                  </a:cubicBezTo>
                  <a:lnTo>
                    <a:pt x="8431" y="120000"/>
                  </a:lnTo>
                  <a:cubicBezTo>
                    <a:pt x="7537" y="120000"/>
                    <a:pt x="6679" y="119554"/>
                    <a:pt x="6046" y="118760"/>
                  </a:cubicBezTo>
                  <a:cubicBezTo>
                    <a:pt x="5414" y="117965"/>
                    <a:pt x="5059" y="116888"/>
                    <a:pt x="5059" y="115765"/>
                  </a:cubicBezTo>
                  <a:lnTo>
                    <a:pt x="5059" y="98824"/>
                  </a:lnTo>
                  <a:lnTo>
                    <a:pt x="0" y="93529"/>
                  </a:lnTo>
                  <a:lnTo>
                    <a:pt x="5059" y="88235"/>
                  </a:lnTo>
                  <a:lnTo>
                    <a:pt x="5059" y="4235"/>
                  </a:lnTo>
                  <a:cubicBezTo>
                    <a:pt x="5059" y="1896"/>
                    <a:pt x="6569" y="0"/>
                    <a:pt x="8431" y="0"/>
                  </a:cubicBezTo>
                  <a:close/>
                </a:path>
              </a:pathLst>
            </a:custGeom>
            <a:solidFill>
              <a:srgbClr val="EFF6FF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8"/>
            <p:cNvSpPr txBox="1"/>
            <p:nvPr/>
          </p:nvSpPr>
          <p:spPr>
            <a:xfrm>
              <a:off x="171450" y="114300"/>
              <a:ext cx="36195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Legge 23 settembre 2025, n. 132</a:t>
              </a:r>
              <a:endParaRPr b="1" sz="13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1" lang="en-US" sz="10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(Legge di Rango Primario / Quadro Nazionale)</a:t>
              </a:r>
              <a:endParaRPr b="1" i="1" sz="10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80975" lvl="0" marL="228600" rtl="0" algn="l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Lato"/>
                <a:buChar char="●"/>
              </a:pPr>
              <a:r>
                <a:rPr b="1" lang="en-US" sz="105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Quadro Nazionale Orizzontale:</a:t>
              </a:r>
              <a:r>
                <a:rPr lang="en-US" sz="105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 Definisce i principi generali per ricerca, sviluppo, PA, lavoro e sicurezza in materia di IA.</a:t>
              </a:r>
              <a:endParaRPr sz="105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80975" lvl="0" marL="2286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Lato"/>
                <a:buChar char="●"/>
              </a:pPr>
              <a:r>
                <a:rPr b="1" lang="en-US" sz="105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Settore Istruzione e Formazione:</a:t>
              </a:r>
              <a:endParaRPr sz="105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7800" lvl="1" marL="40005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Lato"/>
                <a:buChar char="○"/>
              </a:pPr>
              <a:r>
                <a:rPr lang="en-US" sz="10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Direttive generali sull'accessibilità dei minori (art. 3, comma 4).</a:t>
              </a:r>
              <a:endParaRPr sz="10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77800" lvl="1" marL="40005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Lato"/>
                <a:buChar char="○"/>
              </a:pPr>
              <a:r>
                <a:rPr lang="en-US" sz="10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Percorsi di AI literacy e potenziamento delle competenze STEM e digitali nei curricoli (art. 23, comma 1, lett. e/g).</a:t>
              </a:r>
              <a:endParaRPr sz="10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6507" y="938086"/>
            <a:ext cx="2453400" cy="8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 txBox="1"/>
          <p:nvPr/>
        </p:nvSpPr>
        <p:spPr>
          <a:xfrm>
            <a:off x="457200" y="27432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Quadro normativo Italiano ed Europeo</a:t>
            </a:r>
            <a:endParaRPr b="1" sz="26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1765370" y="1008494"/>
            <a:ext cx="1968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GDPR 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(Reg. UE 2016/679)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Regolamento Generale sulla Protezione dei Dati</a:t>
            </a:r>
            <a:endParaRPr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7" name="Google Shape;2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2810" y="2336662"/>
            <a:ext cx="2837100" cy="6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/>
          <p:nvPr/>
        </p:nvSpPr>
        <p:spPr>
          <a:xfrm>
            <a:off x="1286830" y="2353887"/>
            <a:ext cx="245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CODICE PRIVACY 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(D.Lgs. 196/2003 e 101/2018)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Normativa Nazionale di Adeguamento</a:t>
            </a:r>
            <a:endParaRPr b="0" sz="100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9" name="Google Shape;2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6357" y="946436"/>
            <a:ext cx="2453400" cy="8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9"/>
          <p:cNvSpPr txBox="1"/>
          <p:nvPr/>
        </p:nvSpPr>
        <p:spPr>
          <a:xfrm>
            <a:off x="4960083" y="1052942"/>
            <a:ext cx="2020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 ACT 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(Reg. UE 2024/1689)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Regolamento Europeo sull'Intelligenza Artificiale</a:t>
            </a:r>
            <a:endParaRPr b="0" sz="100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1" name="Google Shape;2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3846" y="2358188"/>
            <a:ext cx="2837100" cy="6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/>
          <p:cNvSpPr txBox="1"/>
          <p:nvPr/>
        </p:nvSpPr>
        <p:spPr>
          <a:xfrm>
            <a:off x="4724018" y="2405738"/>
            <a:ext cx="2500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LEGGE DELEGA IA 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(Legge n. 132/2025)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Principi e Delega al Governo Italiano</a:t>
            </a:r>
            <a:endParaRPr b="0" sz="100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3716439" y="3040350"/>
            <a:ext cx="1247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5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ATTUAZIONE E COORDINAMENTO</a:t>
            </a:r>
            <a:endParaRPr b="1" sz="935">
              <a:solidFill>
                <a:srgbClr val="DC262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4" name="Google Shape;2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3632" y="3707945"/>
            <a:ext cx="2837100" cy="8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2985690" y="3814943"/>
            <a:ext cx="27300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DM LINEE GUIDA SCUOLA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(D.M. n. 166/2025)</a:t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Attuazione in Ambito Scolastico e Formativo</a:t>
            </a:r>
            <a:endParaRPr b="0" sz="1000">
              <a:solidFill>
                <a:srgbClr val="E5E7EB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6" name="Google Shape;296;p19"/>
          <p:cNvCxnSpPr>
            <a:stCxn id="284" idx="2"/>
            <a:endCxn id="288" idx="0"/>
          </p:cNvCxnSpPr>
          <p:nvPr/>
        </p:nvCxnSpPr>
        <p:spPr>
          <a:xfrm rot="5400000">
            <a:off x="2342357" y="1942936"/>
            <a:ext cx="582000" cy="2397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19"/>
          <p:cNvCxnSpPr>
            <a:stCxn id="289" idx="2"/>
            <a:endCxn id="291" idx="0"/>
          </p:cNvCxnSpPr>
          <p:nvPr/>
        </p:nvCxnSpPr>
        <p:spPr>
          <a:xfrm flipH="1" rot="-5400000">
            <a:off x="5693607" y="2029586"/>
            <a:ext cx="578100" cy="79200"/>
          </a:xfrm>
          <a:prstGeom prst="curvedConnector3">
            <a:avLst>
              <a:gd fmla="val 49996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19"/>
          <p:cNvCxnSpPr>
            <a:stCxn id="288" idx="2"/>
            <a:endCxn id="294" idx="0"/>
          </p:cNvCxnSpPr>
          <p:nvPr/>
        </p:nvCxnSpPr>
        <p:spPr>
          <a:xfrm flipH="1" rot="-5400000">
            <a:off x="3050530" y="2426487"/>
            <a:ext cx="744600" cy="1818600"/>
          </a:xfrm>
          <a:prstGeom prst="curvedConnector3">
            <a:avLst>
              <a:gd fmla="val 4999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19"/>
          <p:cNvCxnSpPr>
            <a:stCxn id="291" idx="2"/>
            <a:endCxn id="294" idx="0"/>
          </p:cNvCxnSpPr>
          <p:nvPr/>
        </p:nvCxnSpPr>
        <p:spPr>
          <a:xfrm rot="5400000">
            <a:off x="4821496" y="2506988"/>
            <a:ext cx="711600" cy="1690200"/>
          </a:xfrm>
          <a:prstGeom prst="curvedConnector3">
            <a:avLst>
              <a:gd fmla="val 5000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457200" y="27432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IA antropocentrica, sicura, etica e responsabile</a:t>
            </a:r>
            <a:endParaRPr b="1" sz="24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Il principio di centralità dell'uomo nel quadro normativo</a:t>
            </a:r>
            <a:endParaRPr b="0" sz="1300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09" name="Google Shape;309;p20"/>
          <p:cNvGrpSpPr/>
          <p:nvPr/>
        </p:nvGrpSpPr>
        <p:grpSpPr>
          <a:xfrm>
            <a:off x="457200" y="1238250"/>
            <a:ext cx="2552700" cy="3238500"/>
            <a:chOff x="0" y="0"/>
            <a:chExt cx="2552700" cy="3238500"/>
          </a:xfrm>
        </p:grpSpPr>
        <p:sp>
          <p:nvSpPr>
            <p:cNvPr id="310" name="Google Shape;310;p20"/>
            <p:cNvSpPr/>
            <p:nvPr/>
          </p:nvSpPr>
          <p:spPr>
            <a:xfrm>
              <a:off x="0" y="0"/>
              <a:ext cx="2552700" cy="3238500"/>
            </a:xfrm>
            <a:prstGeom prst="roundRect">
              <a:avLst>
                <a:gd fmla="val 3731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190500" y="190500"/>
              <a:ext cx="2171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Regolamento (UE) 2024/1689</a:t>
              </a:r>
              <a:endParaRPr b="1" sz="13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(AI Act)</a:t>
              </a:r>
              <a:endParaRPr b="0" sz="10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Sancisce l'approccio </a:t>
              </a:r>
              <a:r>
                <a:rPr b="1" lang="en-US" sz="10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"antropocentrico"</a:t>
              </a: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fin dall'Art. 1, c. 1, e nei Considerando 6 e 27.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Lato"/>
                <a:buChar char="●"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Orientamenti etici europei per un'IA affidabile.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1050"/>
                <a:buFont typeface="Lato"/>
                <a:buChar char="●"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Tecnologia al servizio del benessere umano.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3" name="Google Shape;313;p20"/>
          <p:cNvGrpSpPr/>
          <p:nvPr/>
        </p:nvGrpSpPr>
        <p:grpSpPr>
          <a:xfrm>
            <a:off x="3295650" y="1238250"/>
            <a:ext cx="2552700" cy="3238500"/>
            <a:chOff x="0" y="0"/>
            <a:chExt cx="2552700" cy="3238500"/>
          </a:xfrm>
        </p:grpSpPr>
        <p:sp>
          <p:nvSpPr>
            <p:cNvPr id="314" name="Google Shape;314;p20"/>
            <p:cNvSpPr/>
            <p:nvPr/>
          </p:nvSpPr>
          <p:spPr>
            <a:xfrm>
              <a:off x="0" y="0"/>
              <a:ext cx="2552700" cy="3238500"/>
            </a:xfrm>
            <a:prstGeom prst="roundRect">
              <a:avLst>
                <a:gd fmla="val 3731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190500" y="190500"/>
              <a:ext cx="2171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D.M. 9 agosto 2025, n. 166</a:t>
              </a:r>
              <a:endParaRPr b="1" sz="13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(Linee guida IA nella Scuola)</a:t>
              </a:r>
              <a:endParaRPr b="0" sz="10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Promozione di un'IA </a:t>
              </a:r>
              <a:r>
                <a:rPr b="1" lang="en-US" sz="10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sicura, affidabile, etica e responsabile</a:t>
              </a: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come finalità prioritaria.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Lato"/>
                <a:buChar char="●"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Centralità e insostituibilità della sorveglianza umana.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1050"/>
                <a:buFont typeface="Lato"/>
                <a:buChar char="●"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Tutela specifica nei contesti educativi.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7" name="Google Shape;317;p20"/>
          <p:cNvGrpSpPr/>
          <p:nvPr/>
        </p:nvGrpSpPr>
        <p:grpSpPr>
          <a:xfrm>
            <a:off x="6134100" y="1238250"/>
            <a:ext cx="2552700" cy="3238500"/>
            <a:chOff x="0" y="0"/>
            <a:chExt cx="2552700" cy="3238500"/>
          </a:xfrm>
        </p:grpSpPr>
        <p:sp>
          <p:nvSpPr>
            <p:cNvPr id="318" name="Google Shape;318;p20"/>
            <p:cNvSpPr/>
            <p:nvPr/>
          </p:nvSpPr>
          <p:spPr>
            <a:xfrm>
              <a:off x="0" y="0"/>
              <a:ext cx="2552700" cy="3238500"/>
            </a:xfrm>
            <a:prstGeom prst="roundRect">
              <a:avLst>
                <a:gd fmla="val 3731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190500" y="190500"/>
              <a:ext cx="21717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Legge 23 settembre 2025, n. 132</a:t>
              </a:r>
              <a:endParaRPr b="1" sz="13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(Legge delega IA)</a:t>
              </a:r>
              <a:endParaRPr b="0" sz="10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L'Articolo 3 impone il rispetto dell'</a:t>
              </a:r>
              <a:r>
                <a:rPr b="1" lang="en-US" sz="10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autonomia e del potere decisionale dell'uomo</a:t>
              </a: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Lato"/>
                <a:buChar char="●"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Garanzia di sicurezza e trasparenza.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1050"/>
                <a:buFont typeface="Lato"/>
                <a:buChar char="●"/>
              </a:pPr>
              <a:r>
                <a:rPr b="0" lang="en-US" sz="10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Controllo umano lungo tutto il ciclo di vita.</a:t>
              </a:r>
              <a:endParaRPr b="0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 txBox="1"/>
          <p:nvPr/>
        </p:nvSpPr>
        <p:spPr>
          <a:xfrm>
            <a:off x="457200" y="27432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Piena tutela dei diritti fondamentali dei minori</a:t>
            </a:r>
            <a:endParaRPr b="1" sz="24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Garanzie e protezioni rafforzate nel contesto educativo e digitale</a:t>
            </a:r>
            <a:endParaRPr b="0" sz="1300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30" name="Google Shape;330;p21"/>
          <p:cNvGrpSpPr/>
          <p:nvPr/>
        </p:nvGrpSpPr>
        <p:grpSpPr>
          <a:xfrm>
            <a:off x="457200" y="1190625"/>
            <a:ext cx="1905000" cy="3286200"/>
            <a:chOff x="0" y="0"/>
            <a:chExt cx="1905000" cy="3286200"/>
          </a:xfrm>
        </p:grpSpPr>
        <p:sp>
          <p:nvSpPr>
            <p:cNvPr id="331" name="Google Shape;331;p21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1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D.M. n. 166/2025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(Linee guida IA Scuola)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Soggetti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vulnerabili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con protezione rafforzata.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Divieto di tecniche manipolative o rilevazione emozioni.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225"/>
                </a:spcBef>
                <a:spcAft>
                  <a:spcPts val="225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Garanzie stringenti sui dati scolastici.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4" name="Google Shape;334;p21"/>
          <p:cNvGrpSpPr/>
          <p:nvPr/>
        </p:nvGrpSpPr>
        <p:grpSpPr>
          <a:xfrm>
            <a:off x="2514600" y="1190625"/>
            <a:ext cx="1905000" cy="3286200"/>
            <a:chOff x="0" y="0"/>
            <a:chExt cx="1905000" cy="3286200"/>
          </a:xfrm>
        </p:grpSpPr>
        <p:sp>
          <p:nvSpPr>
            <p:cNvPr id="335" name="Google Shape;335;p21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GDPR e Codice Privacy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(Reg. UE 2016/679 - D.Lgs. 196/03)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Persone vulnerabili meritevoli di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specifica tutela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Regolazione delle condizioni di consenso.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225"/>
                </a:spcBef>
                <a:spcAft>
                  <a:spcPts val="225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Tutela per i servizi della società dell'informazione.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8" name="Google Shape;338;p21"/>
          <p:cNvGrpSpPr/>
          <p:nvPr/>
        </p:nvGrpSpPr>
        <p:grpSpPr>
          <a:xfrm>
            <a:off x="4572000" y="1190625"/>
            <a:ext cx="1905000" cy="3286200"/>
            <a:chOff x="0" y="0"/>
            <a:chExt cx="1905000" cy="3286200"/>
          </a:xfrm>
        </p:grpSpPr>
        <p:sp>
          <p:nvSpPr>
            <p:cNvPr id="339" name="Google Shape;339;p21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1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Legge n. 132/2025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(Legge delega IA)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Art. 4, c. 4: Obbligo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inderogabile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di consenso genitoriale.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Necessario sotto i 14 anni per l'accesso ai sistemi IA.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225"/>
                </a:spcBef>
                <a:spcAft>
                  <a:spcPts val="225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Protezione per il trattamento dati.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42" name="Google Shape;342;p21"/>
          <p:cNvGrpSpPr/>
          <p:nvPr/>
        </p:nvGrpSpPr>
        <p:grpSpPr>
          <a:xfrm>
            <a:off x="6629400" y="1190625"/>
            <a:ext cx="1905000" cy="3286200"/>
            <a:chOff x="0" y="0"/>
            <a:chExt cx="1905000" cy="3286200"/>
          </a:xfrm>
        </p:grpSpPr>
        <p:sp>
          <p:nvSpPr>
            <p:cNvPr id="343" name="Google Shape;343;p21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1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Carta dei Diritti UE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(CDFUE - Art. 24)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Protezione e assistenza necessarie al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benessere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Garanzia dei diritti fondamentali dei minori.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225"/>
                </a:spcBef>
                <a:spcAft>
                  <a:spcPts val="225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Richiamata dal Considerando 48 dell'AI Act.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 txBox="1"/>
          <p:nvPr/>
        </p:nvSpPr>
        <p:spPr>
          <a:xfrm>
            <a:off x="457200" y="228600"/>
            <a:ext cx="822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Tutela dei Minori nella Scheda FRIA</a:t>
            </a:r>
            <a:endParaRPr b="1" sz="20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Formalizzazione delle misure obbligatorie nella sezione soggetti vulnerabili</a:t>
            </a:r>
            <a:endParaRPr b="0" sz="1200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55" name="Google Shape;355;p22"/>
          <p:cNvGrpSpPr/>
          <p:nvPr/>
        </p:nvGrpSpPr>
        <p:grpSpPr>
          <a:xfrm>
            <a:off x="457200" y="1047750"/>
            <a:ext cx="1905000" cy="3429000"/>
            <a:chOff x="0" y="0"/>
            <a:chExt cx="1905000" cy="3429000"/>
          </a:xfrm>
        </p:grpSpPr>
        <p:sp>
          <p:nvSpPr>
            <p:cNvPr id="356" name="Google Shape;356;p22"/>
            <p:cNvSpPr/>
            <p:nvPr/>
          </p:nvSpPr>
          <p:spPr>
            <a:xfrm>
              <a:off x="0" y="0"/>
              <a:ext cx="1905000" cy="3429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2"/>
            <p:cNvSpPr txBox="1"/>
            <p:nvPr/>
          </p:nvSpPr>
          <p:spPr>
            <a:xfrm>
              <a:off x="133350" y="152400"/>
              <a:ext cx="1638300" cy="31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Pratiche Vietate</a:t>
              </a:r>
              <a:endParaRPr b="1" sz="11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(Art. 5 AI Act)</a:t>
              </a:r>
              <a:endParaRPr b="0" sz="8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Attestazione esplicita di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assenza di rischi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No sentiment analysis o riconoscimento emozioni.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No tecniche manipolative o subliminali.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No categorizzazione biometrica.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59" name="Google Shape;359;p22"/>
          <p:cNvGrpSpPr/>
          <p:nvPr/>
        </p:nvGrpSpPr>
        <p:grpSpPr>
          <a:xfrm>
            <a:off x="2514600" y="1047750"/>
            <a:ext cx="1905000" cy="3429000"/>
            <a:chOff x="0" y="0"/>
            <a:chExt cx="1905000" cy="3429000"/>
          </a:xfrm>
        </p:grpSpPr>
        <p:sp>
          <p:nvSpPr>
            <p:cNvPr id="360" name="Google Shape;360;p22"/>
            <p:cNvSpPr/>
            <p:nvPr/>
          </p:nvSpPr>
          <p:spPr>
            <a:xfrm>
              <a:off x="0" y="0"/>
              <a:ext cx="1905000" cy="3429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2"/>
            <p:cNvSpPr txBox="1"/>
            <p:nvPr/>
          </p:nvSpPr>
          <p:spPr>
            <a:xfrm>
              <a:off x="133350" y="152400"/>
              <a:ext cx="1638300" cy="31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Consenso &amp; Età</a:t>
              </a:r>
              <a:endParaRPr b="1" sz="11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(L. 132/25, Art. 8 GDPR)</a:t>
              </a:r>
              <a:endParaRPr b="0" sz="8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Controllo degli accessi e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verifiche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Sistema di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Age Gate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implementato.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Blocco diretto under 14.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Consenso genitoriale obbligatorio.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63" name="Google Shape;363;p22"/>
          <p:cNvGrpSpPr/>
          <p:nvPr/>
        </p:nvGrpSpPr>
        <p:grpSpPr>
          <a:xfrm>
            <a:off x="4572000" y="1047750"/>
            <a:ext cx="1905000" cy="3429000"/>
            <a:chOff x="0" y="0"/>
            <a:chExt cx="1905000" cy="3429000"/>
          </a:xfrm>
        </p:grpSpPr>
        <p:sp>
          <p:nvSpPr>
            <p:cNvPr id="364" name="Google Shape;364;p22"/>
            <p:cNvSpPr/>
            <p:nvPr/>
          </p:nvSpPr>
          <p:spPr>
            <a:xfrm>
              <a:off x="0" y="0"/>
              <a:ext cx="1905000" cy="3429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2"/>
            <p:cNvSpPr txBox="1"/>
            <p:nvPr/>
          </p:nvSpPr>
          <p:spPr>
            <a:xfrm>
              <a:off x="133350" y="152400"/>
              <a:ext cx="1638300" cy="31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Prompt Sicuri</a:t>
              </a:r>
              <a:endParaRPr b="1" sz="11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(Configurazione LLM)</a:t>
              </a:r>
              <a:endParaRPr b="0" sz="8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Anonimizzazione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e riservatezza: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Nessun dato identificativo inserito.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Disattivazione del tracciamento.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No cronologia e no profilazione.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67" name="Google Shape;367;p22"/>
          <p:cNvGrpSpPr/>
          <p:nvPr/>
        </p:nvGrpSpPr>
        <p:grpSpPr>
          <a:xfrm>
            <a:off x="6629400" y="1047750"/>
            <a:ext cx="1905000" cy="3429000"/>
            <a:chOff x="0" y="0"/>
            <a:chExt cx="1905000" cy="3429000"/>
          </a:xfrm>
        </p:grpSpPr>
        <p:sp>
          <p:nvSpPr>
            <p:cNvPr id="368" name="Google Shape;368;p22"/>
            <p:cNvSpPr/>
            <p:nvPr/>
          </p:nvSpPr>
          <p:spPr>
            <a:xfrm>
              <a:off x="0" y="0"/>
              <a:ext cx="1905000" cy="3429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 txBox="1"/>
            <p:nvPr/>
          </p:nvSpPr>
          <p:spPr>
            <a:xfrm>
              <a:off x="133350" y="152400"/>
              <a:ext cx="1638300" cy="31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Diritto Opt-out</a:t>
              </a:r>
              <a:endParaRPr b="1" sz="11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(Non partecipazione)</a:t>
              </a:r>
              <a:endParaRPr b="0" sz="8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Procedure formali per le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famiglie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Esclusione dati dall'addestramento.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Nessuna penalizzazione didattica.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Piena inclusione garantita.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"/>
          <p:cNvSpPr txBox="1"/>
          <p:nvPr/>
        </p:nvSpPr>
        <p:spPr>
          <a:xfrm>
            <a:off x="457200" y="27432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Rispetto della dignità e non discriminazione</a:t>
            </a:r>
            <a:endParaRPr b="1" sz="24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Principi fondamentali e garanzie nel quadro normativo dell'IA</a:t>
            </a:r>
            <a:endParaRPr b="0" sz="1300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0" name="Google Shape;380;p23"/>
          <p:cNvGrpSpPr/>
          <p:nvPr/>
        </p:nvGrpSpPr>
        <p:grpSpPr>
          <a:xfrm>
            <a:off x="457200" y="1190625"/>
            <a:ext cx="1905000" cy="3286200"/>
            <a:chOff x="0" y="0"/>
            <a:chExt cx="1905000" cy="3286200"/>
          </a:xfrm>
        </p:grpSpPr>
        <p:sp>
          <p:nvSpPr>
            <p:cNvPr id="381" name="Google Shape;381;p23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3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Carta dei Diritti UE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(CDFUE - Art. 1 e 21)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Fonte costituzionale di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rango primario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Fonda il principio di dignità umana (Art. 1).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Sancisce il divieto di non discriminazione (Art. 21).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4" name="Google Shape;384;p23"/>
          <p:cNvGrpSpPr/>
          <p:nvPr/>
        </p:nvGrpSpPr>
        <p:grpSpPr>
          <a:xfrm>
            <a:off x="2514600" y="1190625"/>
            <a:ext cx="1905000" cy="3286200"/>
            <a:chOff x="0" y="0"/>
            <a:chExt cx="1905000" cy="3286200"/>
          </a:xfrm>
        </p:grpSpPr>
        <p:sp>
          <p:nvSpPr>
            <p:cNvPr id="385" name="Google Shape;385;p23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3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AI Act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(Regolamento UE 2024/1689)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Divieto di pratiche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inaccettabili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(Art. 5).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No a </a:t>
              </a:r>
              <a:r>
                <a:rPr b="0" i="1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social scoring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e biometria vietata.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Sistemi ad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alto rischio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nell'istruzione per evitare </a:t>
              </a:r>
              <a:r>
                <a:rPr b="0" i="1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bias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8" name="Google Shape;388;p23"/>
          <p:cNvGrpSpPr/>
          <p:nvPr/>
        </p:nvGrpSpPr>
        <p:grpSpPr>
          <a:xfrm>
            <a:off x="4572000" y="1190625"/>
            <a:ext cx="1905000" cy="3286200"/>
            <a:chOff x="0" y="0"/>
            <a:chExt cx="1905000" cy="3286200"/>
          </a:xfrm>
        </p:grpSpPr>
        <p:sp>
          <p:nvSpPr>
            <p:cNvPr id="389" name="Google Shape;389;p23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Codice Privacy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(D.Lgs. 196/03 - 101/18)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Tutela dei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diritti fondamentali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Art. 1: rispetto della dignità umana nel trattamento dati.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Garanzia delle libertà e dei diritti individuali.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2" name="Google Shape;392;p23"/>
          <p:cNvGrpSpPr/>
          <p:nvPr/>
        </p:nvGrpSpPr>
        <p:grpSpPr>
          <a:xfrm>
            <a:off x="6629400" y="1190625"/>
            <a:ext cx="1905000" cy="3286200"/>
            <a:chOff x="0" y="0"/>
            <a:chExt cx="1905000" cy="3286200"/>
          </a:xfrm>
        </p:grpSpPr>
        <p:sp>
          <p:nvSpPr>
            <p:cNvPr id="393" name="Google Shape;393;p23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D.M. n. 166/2025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(Linee guida IA Scuola)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Equità e Centralità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della Persona.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Principi cardine d'istituto (Par. 2).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950"/>
                <a:buFont typeface="Lato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Auditing dei dati e monitoraggio continuo anti-distorsioni.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"/>
          <p:cNvSpPr txBox="1"/>
          <p:nvPr/>
        </p:nvSpPr>
        <p:spPr>
          <a:xfrm>
            <a:off x="457200" y="274323"/>
            <a:ext cx="82296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2800"/>
              <a:buFont typeface="Arial Narrow"/>
              <a:buNone/>
            </a:pPr>
            <a:r>
              <a:rPr b="1" lang="en-US" sz="24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Architettura chiave del GDPR: i tre pilastri FONDAMENTALI</a:t>
            </a:r>
            <a:endParaRPr b="1" sz="24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240025" y="703325"/>
            <a:ext cx="2750100" cy="3768000"/>
          </a:xfrm>
          <a:prstGeom prst="roundRect">
            <a:avLst>
              <a:gd fmla="val 6234" name="adj"/>
            </a:avLst>
          </a:prstGeom>
          <a:solidFill>
            <a:srgbClr val="E3EBF7"/>
          </a:solidFill>
          <a:ln cap="flat" cmpd="sng" w="21425">
            <a:solidFill>
              <a:srgbClr val="2F5F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342900" y="740664"/>
            <a:ext cx="2544300" cy="617100"/>
          </a:xfrm>
          <a:prstGeom prst="roundRect">
            <a:avLst>
              <a:gd fmla="val 20000" name="adj"/>
            </a:avLst>
          </a:prstGeom>
          <a:solidFill>
            <a:srgbClr val="C5D6EF"/>
          </a:solidFill>
          <a:ln cap="flat" cmpd="sng" w="19050">
            <a:solidFill>
              <a:srgbClr val="2F5F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945" y="822960"/>
            <a:ext cx="486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4"/>
          <p:cNvSpPr txBox="1"/>
          <p:nvPr/>
        </p:nvSpPr>
        <p:spPr>
          <a:xfrm>
            <a:off x="960120" y="740664"/>
            <a:ext cx="1858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00"/>
              <a:buFont typeface="Arial Narrow"/>
              <a:buNone/>
            </a:pPr>
            <a:r>
              <a:rPr i="0" lang="en-US" sz="12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PILASTRO 1: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00"/>
              <a:buFont typeface="Arial Narrow"/>
              <a:buNone/>
            </a:pPr>
            <a:r>
              <a:rPr b="1" i="0" lang="en-US" sz="12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RUOLI E RESPONSABILITÀ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342900" y="1460751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"/>
          <p:cNvSpPr txBox="1"/>
          <p:nvPr/>
        </p:nvSpPr>
        <p:spPr>
          <a:xfrm>
            <a:off x="411475" y="1465678"/>
            <a:ext cx="24072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TITOLARE DEL TRATTAMENTO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900"/>
              <a:buFont typeface="Arial Narrow"/>
              <a:buNone/>
            </a:pPr>
            <a:r>
              <a:rPr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(Data Controller)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11" name="Google Shape;41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460" y="1710721"/>
            <a:ext cx="509217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4"/>
          <p:cNvSpPr txBox="1"/>
          <p:nvPr/>
        </p:nvSpPr>
        <p:spPr>
          <a:xfrm>
            <a:off x="1063044" y="1833065"/>
            <a:ext cx="1687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Determina finalità e mezzi del trattamento.</a:t>
            </a: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È il principale responsabile della conformità.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342900" y="2395525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411475" y="2400453"/>
            <a:ext cx="24072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RESPONSABILE DEL TRATTAMENTO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900"/>
              <a:buFont typeface="Arial Narrow"/>
              <a:buNone/>
            </a:pPr>
            <a:r>
              <a:rPr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(Data Processor)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15" name="Google Shape;41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299" y="2642907"/>
            <a:ext cx="468133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4"/>
          <p:cNvSpPr txBox="1"/>
          <p:nvPr/>
        </p:nvSpPr>
        <p:spPr>
          <a:xfrm>
            <a:off x="1082624" y="2718892"/>
            <a:ext cx="1687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Tratta i dati per conto del Titolare.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Agisce su istruzioni vincolanti e per contratto.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342900" y="3291148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411480" y="3296060"/>
            <a:ext cx="2407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RESPONSABILE DELLA PROTEZIONE DATI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900"/>
              <a:buFont typeface="Arial Narrow"/>
              <a:buNone/>
            </a:pPr>
            <a:r>
              <a:rPr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(DPO)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19" name="Google Shape;41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917" y="3550899"/>
            <a:ext cx="498479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4"/>
          <p:cNvSpPr txBox="1"/>
          <p:nvPr/>
        </p:nvSpPr>
        <p:spPr>
          <a:xfrm>
            <a:off x="1092414" y="3624298"/>
            <a:ext cx="1687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Ruolo di supervisione e consulenza. Monitora la conformità, funge da punto di contatto.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3195825" y="703400"/>
            <a:ext cx="2750100" cy="3768000"/>
          </a:xfrm>
          <a:prstGeom prst="roundRect">
            <a:avLst>
              <a:gd fmla="val 6234" name="adj"/>
            </a:avLst>
          </a:prstGeom>
          <a:solidFill>
            <a:srgbClr val="E0F1EC"/>
          </a:solidFill>
          <a:ln cap="flat" cmpd="sng" w="21425">
            <a:solidFill>
              <a:srgbClr val="3A9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3298698" y="740664"/>
            <a:ext cx="2544300" cy="617100"/>
          </a:xfrm>
          <a:prstGeom prst="roundRect">
            <a:avLst>
              <a:gd fmla="val 20000" name="adj"/>
            </a:avLst>
          </a:prstGeom>
          <a:solidFill>
            <a:srgbClr val="BFE5DA"/>
          </a:solidFill>
          <a:ln cap="flat" cmpd="sng" w="19050">
            <a:solidFill>
              <a:srgbClr val="3A9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3" name="Google Shape;42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1568" y="843700"/>
            <a:ext cx="514350" cy="47287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4"/>
          <p:cNvSpPr txBox="1"/>
          <p:nvPr/>
        </p:nvSpPr>
        <p:spPr>
          <a:xfrm>
            <a:off x="3915918" y="740664"/>
            <a:ext cx="1858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00"/>
              <a:buFont typeface="Arial Narrow"/>
              <a:buNone/>
            </a:pPr>
            <a:r>
              <a:rPr i="0" lang="en-US" sz="12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PILASTRO 2: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00"/>
              <a:buFont typeface="Arial Narrow"/>
              <a:buNone/>
            </a:pPr>
            <a:r>
              <a:rPr b="1" i="0" lang="en-US" sz="12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PROCEDURE E DIRITTI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3298713" y="1447738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3367275" y="1455887"/>
            <a:ext cx="2407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GESTIONE DEI DIRITTI DEGLI INTERESSATI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27" name="Google Shape;42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86342" y="1710724"/>
            <a:ext cx="504063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4"/>
          <p:cNvSpPr txBox="1"/>
          <p:nvPr/>
        </p:nvSpPr>
        <p:spPr>
          <a:xfrm>
            <a:off x="3974659" y="1672786"/>
            <a:ext cx="1687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Assicura risposte tempestive a richieste di: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Accesso, Rettifica, Cancellazione, Opposizione, Portabilità.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3298725" y="2375588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4"/>
          <p:cNvSpPr txBox="1"/>
          <p:nvPr/>
        </p:nvSpPr>
        <p:spPr>
          <a:xfrm>
            <a:off x="3367275" y="2383426"/>
            <a:ext cx="2407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CONFORMITÀ E DOCUMENTAZIONE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31" name="Google Shape;43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79180" y="2601178"/>
            <a:ext cx="531056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4"/>
          <p:cNvSpPr txBox="1"/>
          <p:nvPr/>
        </p:nvSpPr>
        <p:spPr>
          <a:xfrm>
            <a:off x="3974643" y="2610955"/>
            <a:ext cx="1687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Registro delle attività di trattamento, Misure tecniche e organizzative, Principi di Privacy by Design e Default.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3298725" y="3303450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4"/>
          <p:cNvSpPr txBox="1"/>
          <p:nvPr/>
        </p:nvSpPr>
        <p:spPr>
          <a:xfrm>
            <a:off x="3367278" y="3290586"/>
            <a:ext cx="2407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NOTIFICA VIOLAZIONI DATI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900"/>
              <a:buFont typeface="Arial Narrow"/>
              <a:buNone/>
            </a:pPr>
            <a:r>
              <a:rPr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(Data Breach)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35" name="Google Shape;435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8166" y="3570066"/>
            <a:ext cx="387457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4"/>
          <p:cNvSpPr txBox="1"/>
          <p:nvPr/>
        </p:nvSpPr>
        <p:spPr>
          <a:xfrm>
            <a:off x="3900200" y="3663775"/>
            <a:ext cx="1687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Informa l’Autorità di Controllo (entro 72h) e gli interessati (se necessario) in caso di violazione.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6151625" y="703400"/>
            <a:ext cx="2750100" cy="3768000"/>
          </a:xfrm>
          <a:prstGeom prst="roundRect">
            <a:avLst>
              <a:gd fmla="val 6234" name="adj"/>
            </a:avLst>
          </a:prstGeom>
          <a:solidFill>
            <a:srgbClr val="FDEADB"/>
          </a:solidFill>
          <a:ln cap="flat" cmpd="sng" w="21425">
            <a:solidFill>
              <a:srgbClr val="E88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6254496" y="740664"/>
            <a:ext cx="2544300" cy="617100"/>
          </a:xfrm>
          <a:prstGeom prst="roundRect">
            <a:avLst>
              <a:gd fmla="val 20000" name="adj"/>
            </a:avLst>
          </a:prstGeom>
          <a:solidFill>
            <a:srgbClr val="FBD8BD"/>
          </a:solidFill>
          <a:ln cap="flat" cmpd="sng" w="19050">
            <a:solidFill>
              <a:srgbClr val="E88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9" name="Google Shape;439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7366" y="827394"/>
            <a:ext cx="514350" cy="5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4"/>
          <p:cNvSpPr txBox="1"/>
          <p:nvPr/>
        </p:nvSpPr>
        <p:spPr>
          <a:xfrm>
            <a:off x="6871716" y="740664"/>
            <a:ext cx="1858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00"/>
              <a:buFont typeface="Arial Narrow"/>
              <a:buNone/>
            </a:pPr>
            <a:r>
              <a:rPr i="0" lang="en-US" sz="12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PILASTRO 3: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00"/>
              <a:buFont typeface="Arial Narrow"/>
              <a:buNone/>
            </a:pPr>
            <a:r>
              <a:rPr b="1" i="0" lang="en-US" sz="12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GESTIONE RISCHI E SICUREZZA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6254500" y="1460751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 txBox="1"/>
          <p:nvPr/>
        </p:nvSpPr>
        <p:spPr>
          <a:xfrm>
            <a:off x="6323075" y="1465677"/>
            <a:ext cx="240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ANALISI PREVENTIVA DEI PERICOLI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43" name="Google Shape;443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13287" y="1690239"/>
            <a:ext cx="556004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4"/>
          <p:cNvSpPr txBox="1"/>
          <p:nvPr/>
        </p:nvSpPr>
        <p:spPr>
          <a:xfrm>
            <a:off x="6910975" y="1730235"/>
            <a:ext cx="1687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Identifica e valuta i rischi per i diritti e le libertà degli interessati.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6254500" y="2385728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4"/>
          <p:cNvSpPr txBox="1"/>
          <p:nvPr/>
        </p:nvSpPr>
        <p:spPr>
          <a:xfrm>
            <a:off x="6323075" y="2374516"/>
            <a:ext cx="24072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VALUTAZIONE D’IMPATTO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900"/>
              <a:buFont typeface="Arial Narrow"/>
              <a:buNone/>
            </a:pPr>
            <a:r>
              <a:rPr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(DPIA)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47" name="Google Shape;447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42551" y="2601112"/>
            <a:ext cx="462819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4"/>
          <p:cNvSpPr txBox="1"/>
          <p:nvPr/>
        </p:nvSpPr>
        <p:spPr>
          <a:xfrm>
            <a:off x="6910986" y="2687980"/>
            <a:ext cx="1687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Obbligatoria per trattamenti ad alto rischio (es. nuove tecnologie, profilazione su larga scala).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6254550" y="3309200"/>
            <a:ext cx="2544300" cy="837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4300">
            <a:solidFill>
              <a:srgbClr val="555C6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28575">
              <a:srgbClr val="1E2846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4"/>
          <p:cNvSpPr txBox="1"/>
          <p:nvPr/>
        </p:nvSpPr>
        <p:spPr>
          <a:xfrm>
            <a:off x="6323075" y="3315383"/>
            <a:ext cx="2407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Arial Narrow"/>
              <a:buNone/>
            </a:pPr>
            <a:r>
              <a:rPr b="1" i="0" lang="en-US" sz="9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MISURE DI SICUREZZA ADEGUATE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451" name="Google Shape;451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32776" y="3560911"/>
            <a:ext cx="471638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 txBox="1"/>
          <p:nvPr/>
        </p:nvSpPr>
        <p:spPr>
          <a:xfrm>
            <a:off x="6910966" y="3466026"/>
            <a:ext cx="1687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800"/>
              <a:buFont typeface="Arial Narrow"/>
              <a:buNone/>
            </a:pPr>
            <a:r>
              <a:rPr i="0" lang="en-US" sz="800" u="none" cap="none" strike="noStrike">
                <a:solidFill>
                  <a:srgbClr val="1A1F2B"/>
                </a:solidFill>
                <a:latin typeface="Lato"/>
                <a:ea typeface="Lato"/>
                <a:cs typeface="Lato"/>
                <a:sym typeface="Lato"/>
              </a:rPr>
              <a:t>Cifratura, Pseudonimizzazione, Controllo accessi, Test di efficacia, Resilienza dei sistemi.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"/>
          <p:cNvSpPr/>
          <p:nvPr/>
        </p:nvSpPr>
        <p:spPr>
          <a:xfrm>
            <a:off x="117776" y="651804"/>
            <a:ext cx="2681700" cy="18519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8575">
              <a:srgbClr val="1E2846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/>
          <p:nvPr/>
        </p:nvSpPr>
        <p:spPr>
          <a:xfrm>
            <a:off x="289226" y="802680"/>
            <a:ext cx="425100" cy="425100"/>
          </a:xfrm>
          <a:prstGeom prst="ellipse">
            <a:avLst/>
          </a:prstGeom>
          <a:solidFill>
            <a:srgbClr val="E1E8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3" name="Google Shape;4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812" y="91926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5"/>
          <p:cNvSpPr txBox="1"/>
          <p:nvPr/>
        </p:nvSpPr>
        <p:spPr>
          <a:xfrm>
            <a:off x="789860" y="802680"/>
            <a:ext cx="1858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Art. 4, n. 7; Artt. 24, 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289226" y="1303314"/>
            <a:ext cx="2338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400"/>
              <a:buFont typeface="Calibri"/>
              <a:buNone/>
            </a:pPr>
            <a:r>
              <a:rPr b="1" i="0" lang="en-US" sz="12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Titolare del trattamento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289226" y="1557060"/>
            <a:ext cx="233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800"/>
              <a:buFont typeface="Calibri"/>
              <a:buNone/>
            </a:pPr>
            <a:r>
              <a:rPr i="1" lang="en-US" sz="9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Data Controller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289226" y="1762800"/>
            <a:ext cx="233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Persona fisica, giuridica o autorità pubblica che determina finalità e mezzi del trattamento. Ha la responsabilità generale di conformità e sicurezza dei dati.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2936413" y="651804"/>
            <a:ext cx="2681700" cy="18519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8575">
              <a:srgbClr val="1E2846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5"/>
          <p:cNvSpPr/>
          <p:nvPr/>
        </p:nvSpPr>
        <p:spPr>
          <a:xfrm>
            <a:off x="3107863" y="802680"/>
            <a:ext cx="425100" cy="425100"/>
          </a:xfrm>
          <a:prstGeom prst="ellipse">
            <a:avLst/>
          </a:prstGeom>
          <a:solidFill>
            <a:srgbClr val="E1E8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4450" y="91926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5"/>
          <p:cNvSpPr txBox="1"/>
          <p:nvPr/>
        </p:nvSpPr>
        <p:spPr>
          <a:xfrm>
            <a:off x="3608498" y="802680"/>
            <a:ext cx="1858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2A4A"/>
                </a:solidFill>
                <a:latin typeface="Calibri"/>
                <a:ea typeface="Calibri"/>
                <a:cs typeface="Calibri"/>
                <a:sym typeface="Calibri"/>
              </a:rPr>
              <a:t>Art. 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 txBox="1"/>
          <p:nvPr/>
        </p:nvSpPr>
        <p:spPr>
          <a:xfrm>
            <a:off x="3107863" y="1303314"/>
            <a:ext cx="2338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400"/>
              <a:buFont typeface="Calibri"/>
              <a:buNone/>
            </a:pPr>
            <a:r>
              <a:rPr b="1" i="0" lang="en-US" sz="12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Contitolari del trattamento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3107863" y="1557060"/>
            <a:ext cx="233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800"/>
              <a:buFont typeface="Calibri"/>
              <a:buNone/>
            </a:pPr>
            <a:r>
              <a:rPr i="1" lang="en-US" sz="9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Joint Controllers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p25"/>
          <p:cNvSpPr txBox="1"/>
          <p:nvPr/>
        </p:nvSpPr>
        <p:spPr>
          <a:xfrm>
            <a:off x="3107863" y="1762800"/>
            <a:ext cx="233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Due o più titolari che determinano congiuntamente finalità e mezzi del trattamento, mediante un accordo trasparente.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5755052" y="651804"/>
            <a:ext cx="2681700" cy="18519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8575">
              <a:srgbClr val="1E2846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5926502" y="802680"/>
            <a:ext cx="425100" cy="425100"/>
          </a:xfrm>
          <a:prstGeom prst="ellipse">
            <a:avLst/>
          </a:prstGeom>
          <a:solidFill>
            <a:srgbClr val="DDF3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7" name="Google Shape;47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3088" y="91926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5"/>
          <p:cNvSpPr txBox="1"/>
          <p:nvPr/>
        </p:nvSpPr>
        <p:spPr>
          <a:xfrm>
            <a:off x="6427136" y="802680"/>
            <a:ext cx="1858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Art. 4, n. 8; Art. 28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 txBox="1"/>
          <p:nvPr/>
        </p:nvSpPr>
        <p:spPr>
          <a:xfrm>
            <a:off x="5926502" y="1303314"/>
            <a:ext cx="2338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400"/>
              <a:buFont typeface="Calibri"/>
              <a:buNone/>
            </a:pPr>
            <a:r>
              <a:rPr b="1" i="0" lang="en-US" sz="12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Responsabile del trattamento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" name="Google Shape;480;p25"/>
          <p:cNvSpPr txBox="1"/>
          <p:nvPr/>
        </p:nvSpPr>
        <p:spPr>
          <a:xfrm>
            <a:off x="5926502" y="1557060"/>
            <a:ext cx="233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800"/>
              <a:buFont typeface="Calibri"/>
              <a:buNone/>
            </a:pPr>
            <a:r>
              <a:rPr i="1" lang="en-US" sz="900" u="none" cap="none" strike="noStrike">
                <a:solidFill>
                  <a:srgbClr val="0E8F86"/>
                </a:solidFill>
                <a:latin typeface="Lato"/>
                <a:ea typeface="Lato"/>
                <a:cs typeface="Lato"/>
                <a:sym typeface="Lato"/>
              </a:rPr>
              <a:t>Data Processor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1" name="Google Shape;481;p25"/>
          <p:cNvSpPr txBox="1"/>
          <p:nvPr/>
        </p:nvSpPr>
        <p:spPr>
          <a:xfrm>
            <a:off x="5926502" y="1762800"/>
            <a:ext cx="2338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Soggetto esterno che tratta i dati per conto del Titolare sulla base di un contratto o atto giuridico. Deve offrire garanzie sufficienti di sicurezza.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117776" y="2640624"/>
            <a:ext cx="1977000" cy="1885800"/>
          </a:xfrm>
          <a:prstGeom prst="roundRect">
            <a:avLst>
              <a:gd fmla="val 5818" name="adj"/>
            </a:avLst>
          </a:prstGeom>
          <a:solidFill>
            <a:srgbClr val="FFFFFF"/>
          </a:solidFill>
          <a:ln cap="flat" cmpd="sng" w="95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8575">
              <a:srgbClr val="1E2846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/>
          <p:nvPr/>
        </p:nvSpPr>
        <p:spPr>
          <a:xfrm>
            <a:off x="289226" y="2791500"/>
            <a:ext cx="425100" cy="425100"/>
          </a:xfrm>
          <a:prstGeom prst="ellipse">
            <a:avLst/>
          </a:prstGeom>
          <a:solidFill>
            <a:srgbClr val="DDF3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4" name="Google Shape;48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812" y="290808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5"/>
          <p:cNvSpPr txBox="1"/>
          <p:nvPr/>
        </p:nvSpPr>
        <p:spPr>
          <a:xfrm>
            <a:off x="789860" y="2791500"/>
            <a:ext cx="1153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E8F86"/>
                </a:solidFill>
                <a:latin typeface="Lato"/>
                <a:ea typeface="Lato"/>
                <a:cs typeface="Lato"/>
                <a:sym typeface="Lato"/>
              </a:rPr>
              <a:t>Art. 29; Art. 2-quaterdecies Cod. Privacy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25"/>
          <p:cNvSpPr txBox="1"/>
          <p:nvPr/>
        </p:nvSpPr>
        <p:spPr>
          <a:xfrm>
            <a:off x="289226" y="3292134"/>
            <a:ext cx="163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Soggetti Autorizzati / Incaricati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289226" y="3669324"/>
            <a:ext cx="16341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8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Persone fisiche che operano sotto l’autorità del Titolare o del Responsabile (es. docenti, personale amministrativo) secondo specifiche istruzioni.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2231754" y="2640624"/>
            <a:ext cx="1977000" cy="1885800"/>
          </a:xfrm>
          <a:prstGeom prst="roundRect">
            <a:avLst>
              <a:gd fmla="val 5818" name="adj"/>
            </a:avLst>
          </a:prstGeom>
          <a:solidFill>
            <a:srgbClr val="FFFFFF"/>
          </a:solidFill>
          <a:ln cap="flat" cmpd="sng" w="95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8575">
              <a:srgbClr val="1E2846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2403204" y="2791500"/>
            <a:ext cx="425100" cy="425100"/>
          </a:xfrm>
          <a:prstGeom prst="ellipse">
            <a:avLst/>
          </a:prstGeom>
          <a:solidFill>
            <a:srgbClr val="FDF0D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0" name="Google Shape;49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19790" y="290808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5"/>
          <p:cNvSpPr txBox="1"/>
          <p:nvPr/>
        </p:nvSpPr>
        <p:spPr>
          <a:xfrm>
            <a:off x="2903838" y="2791500"/>
            <a:ext cx="1153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7B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97B0B"/>
                </a:solidFill>
                <a:latin typeface="Lato"/>
                <a:ea typeface="Lato"/>
                <a:cs typeface="Lato"/>
                <a:sym typeface="Lato"/>
              </a:rPr>
              <a:t>Artt. 37–39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" name="Google Shape;492;p25"/>
          <p:cNvSpPr txBox="1"/>
          <p:nvPr/>
        </p:nvSpPr>
        <p:spPr>
          <a:xfrm>
            <a:off x="2403204" y="3292134"/>
            <a:ext cx="163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DPO / RPD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p25"/>
          <p:cNvSpPr txBox="1"/>
          <p:nvPr/>
        </p:nvSpPr>
        <p:spPr>
          <a:xfrm>
            <a:off x="2403204" y="3473521"/>
            <a:ext cx="1634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0B"/>
              </a:buClr>
              <a:buSzPts val="800"/>
              <a:buFont typeface="Calibri"/>
              <a:buNone/>
            </a:pPr>
            <a:r>
              <a:rPr i="1" lang="en-US" sz="900" u="none" cap="none" strike="noStrike">
                <a:solidFill>
                  <a:srgbClr val="C97B0B"/>
                </a:solidFill>
                <a:latin typeface="Lato"/>
                <a:ea typeface="Lato"/>
                <a:cs typeface="Lato"/>
                <a:sym typeface="Lato"/>
              </a:rPr>
              <a:t>Data Protection Officer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p25"/>
          <p:cNvSpPr txBox="1"/>
          <p:nvPr/>
        </p:nvSpPr>
        <p:spPr>
          <a:xfrm>
            <a:off x="2403204" y="3875064"/>
            <a:ext cx="1634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8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Figura indipendente di consulenza, sorveglianza e punto di contatto con Garante e interessati. Obbligatorio per le PA (scuole incluse) e per trattamenti su larga scala.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4345733" y="2640624"/>
            <a:ext cx="1977000" cy="1885800"/>
          </a:xfrm>
          <a:prstGeom prst="roundRect">
            <a:avLst>
              <a:gd fmla="val 5818" name="adj"/>
            </a:avLst>
          </a:prstGeom>
          <a:solidFill>
            <a:srgbClr val="FFFFFF"/>
          </a:solidFill>
          <a:ln cap="flat" cmpd="sng" w="95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8575">
              <a:srgbClr val="1E2846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4517183" y="2791500"/>
            <a:ext cx="425100" cy="425100"/>
          </a:xfrm>
          <a:prstGeom prst="ellipse">
            <a:avLst/>
          </a:prstGeom>
          <a:solidFill>
            <a:srgbClr val="ECE7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33769" y="290808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5"/>
          <p:cNvSpPr txBox="1"/>
          <p:nvPr/>
        </p:nvSpPr>
        <p:spPr>
          <a:xfrm>
            <a:off x="5017817" y="2791500"/>
            <a:ext cx="1153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4FC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4FC8"/>
                </a:solidFill>
                <a:latin typeface="Lato"/>
                <a:ea typeface="Lato"/>
                <a:cs typeface="Lato"/>
                <a:sym typeface="Lato"/>
              </a:rPr>
              <a:t>Artt. 12–22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" name="Google Shape;499;p25"/>
          <p:cNvSpPr txBox="1"/>
          <p:nvPr/>
        </p:nvSpPr>
        <p:spPr>
          <a:xfrm>
            <a:off x="4517183" y="3292134"/>
            <a:ext cx="163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Interessato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4517183" y="3669324"/>
            <a:ext cx="16341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8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Persona fisica a cui si riferiscono i dati (es. studente, genitore, docente). Titolare dei diritti di accesso, rettifica, cancellazione, limitazione e opposizione.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6459711" y="2640624"/>
            <a:ext cx="1977000" cy="1885800"/>
          </a:xfrm>
          <a:prstGeom prst="roundRect">
            <a:avLst>
              <a:gd fmla="val 5818" name="adj"/>
            </a:avLst>
          </a:prstGeom>
          <a:solidFill>
            <a:srgbClr val="FFFFFF"/>
          </a:solidFill>
          <a:ln cap="flat" cmpd="sng" w="95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8575">
              <a:srgbClr val="1E2846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6631161" y="2791500"/>
            <a:ext cx="425100" cy="425100"/>
          </a:xfrm>
          <a:prstGeom prst="ellipse">
            <a:avLst/>
          </a:prstGeom>
          <a:solidFill>
            <a:srgbClr val="FDF0D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47747" y="290808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5"/>
          <p:cNvSpPr txBox="1"/>
          <p:nvPr/>
        </p:nvSpPr>
        <p:spPr>
          <a:xfrm>
            <a:off x="7131795" y="2791500"/>
            <a:ext cx="1153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7B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97B0B"/>
                </a:solidFill>
                <a:latin typeface="Lato"/>
                <a:ea typeface="Lato"/>
                <a:cs typeface="Lato"/>
                <a:sym typeface="Lato"/>
              </a:rPr>
              <a:t>Artt. 51, 57, 58; Art. 2-bis Cod. Privacy</a:t>
            </a:r>
            <a:endParaRPr i="0" sz="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6631161" y="3292134"/>
            <a:ext cx="1634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2A4A"/>
                </a:solidFill>
                <a:latin typeface="Lato"/>
                <a:ea typeface="Lato"/>
                <a:cs typeface="Lato"/>
                <a:sym typeface="Lato"/>
              </a:rPr>
              <a:t>Autorità di Controllo</a:t>
            </a:r>
            <a:endParaRPr i="0" sz="1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6" name="Google Shape;506;p25"/>
          <p:cNvSpPr txBox="1"/>
          <p:nvPr/>
        </p:nvSpPr>
        <p:spPr>
          <a:xfrm>
            <a:off x="6631161" y="3493101"/>
            <a:ext cx="1634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0B"/>
              </a:buClr>
              <a:buSzPts val="800"/>
              <a:buFont typeface="Calibri"/>
              <a:buNone/>
            </a:pPr>
            <a:r>
              <a:rPr i="1" lang="en-US" sz="900" u="none" cap="none" strike="noStrike">
                <a:solidFill>
                  <a:srgbClr val="C97B0B"/>
                </a:solidFill>
                <a:latin typeface="Lato"/>
                <a:ea typeface="Lato"/>
                <a:cs typeface="Lato"/>
                <a:sym typeface="Lato"/>
              </a:rPr>
              <a:t>Garante Privacy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" name="Google Shape;507;p25"/>
          <p:cNvSpPr txBox="1"/>
          <p:nvPr/>
        </p:nvSpPr>
        <p:spPr>
          <a:xfrm>
            <a:off x="6631161" y="3689051"/>
            <a:ext cx="1634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8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Autorità pubblica indipendente (in Italia, il Garante) che vigila sull’applicazione del GDPR, gestisce i reclami e irroga sanzioni.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3282637" y="245194"/>
            <a:ext cx="109800" cy="109800"/>
          </a:xfrm>
          <a:prstGeom prst="ellipse">
            <a:avLst/>
          </a:prstGeom>
          <a:solidFill>
            <a:srgbClr val="0F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 txBox="1"/>
          <p:nvPr/>
        </p:nvSpPr>
        <p:spPr>
          <a:xfrm>
            <a:off x="3433523" y="190325"/>
            <a:ext cx="603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Decidono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4105597" y="245194"/>
            <a:ext cx="109800" cy="109800"/>
          </a:xfrm>
          <a:prstGeom prst="ellipse">
            <a:avLst/>
          </a:prstGeom>
          <a:solidFill>
            <a:srgbClr val="0E8F8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4256475" y="190325"/>
            <a:ext cx="76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Trattano i dati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5271457" y="245194"/>
            <a:ext cx="109800" cy="109800"/>
          </a:xfrm>
          <a:prstGeom prst="ellipse">
            <a:avLst/>
          </a:prstGeom>
          <a:solidFill>
            <a:srgbClr val="C97B0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5422326" y="217601"/>
            <a:ext cx="1153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Vigilano e consigliano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6780217" y="245194"/>
            <a:ext cx="109800" cy="109800"/>
          </a:xfrm>
          <a:prstGeom prst="ellipse">
            <a:avLst/>
          </a:prstGeom>
          <a:solidFill>
            <a:srgbClr val="6B4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 txBox="1"/>
          <p:nvPr/>
        </p:nvSpPr>
        <p:spPr>
          <a:xfrm>
            <a:off x="6931093" y="190330"/>
            <a:ext cx="685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0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B6B80"/>
                </a:solidFill>
                <a:latin typeface="Lato"/>
                <a:ea typeface="Lato"/>
                <a:cs typeface="Lato"/>
                <a:sym typeface="Lato"/>
              </a:rPr>
              <a:t>Tutelato</a:t>
            </a:r>
            <a:endParaRPr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233842" y="44365"/>
            <a:ext cx="2990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2A4A"/>
              </a:buClr>
              <a:buSzPts val="26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 Ruoli del GDPR</a:t>
            </a:r>
            <a:endParaRPr i="0" sz="24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6"/>
          <p:cNvSpPr txBox="1"/>
          <p:nvPr/>
        </p:nvSpPr>
        <p:spPr>
          <a:xfrm>
            <a:off x="457200" y="27432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2937"/>
                </a:solidFill>
                <a:latin typeface="Merriweather"/>
                <a:ea typeface="Merriweather"/>
                <a:cs typeface="Merriweather"/>
                <a:sym typeface="Merriweather"/>
              </a:rPr>
              <a:t>Struttura del GDPR (Regolamento UE 2016/679)</a:t>
            </a:r>
            <a:endParaRPr b="1" sz="2400">
              <a:solidFill>
                <a:srgbClr val="1F293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Il Principio Guida dell'Accountability e le sue Applicazioni</a:t>
            </a:r>
            <a:endParaRPr b="0" sz="1300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26" name="Google Shape;526;p26"/>
          <p:cNvGrpSpPr/>
          <p:nvPr/>
        </p:nvGrpSpPr>
        <p:grpSpPr>
          <a:xfrm>
            <a:off x="457200" y="1190625"/>
            <a:ext cx="1905000" cy="3286200"/>
            <a:chOff x="0" y="0"/>
            <a:chExt cx="1905000" cy="3286200"/>
          </a:xfrm>
        </p:grpSpPr>
        <p:sp>
          <p:nvSpPr>
            <p:cNvPr id="527" name="Google Shape;527;p26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6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Accountability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(Art. 5, par. 2)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Responsabilizzazione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diretta del Titolare: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Superamento dei meri adempimenti formali.</a:t>
              </a:r>
              <a:endParaRPr/>
            </a:p>
            <a:p>
              <a:pPr indent="-317500" lvl="0" marL="457200" rtl="0" algn="l">
                <a:spcBef>
                  <a:spcPts val="300"/>
                </a:spcBef>
                <a:spcAft>
                  <a:spcPts val="300"/>
                </a:spcAft>
                <a:buSzPts val="1400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Obligo di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dimostrare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l'efficacia delle misure adottate.</a:t>
              </a:r>
              <a:endParaRPr/>
            </a:p>
          </p:txBody>
        </p:sp>
      </p:grpSp>
      <p:grpSp>
        <p:nvGrpSpPr>
          <p:cNvPr id="530" name="Google Shape;530;p26"/>
          <p:cNvGrpSpPr/>
          <p:nvPr/>
        </p:nvGrpSpPr>
        <p:grpSpPr>
          <a:xfrm>
            <a:off x="4572000" y="1190625"/>
            <a:ext cx="1905000" cy="3286200"/>
            <a:chOff x="0" y="0"/>
            <a:chExt cx="1905000" cy="3286200"/>
          </a:xfrm>
        </p:grpSpPr>
        <p:sp>
          <p:nvSpPr>
            <p:cNvPr id="531" name="Google Shape;531;p26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6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Privacy by Design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(Art. 25, par. 1)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Protezione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fin dalla progettazione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Integrazione delle garanzie nei processi.</a:t>
              </a:r>
              <a:endParaRPr/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Misure tecniche e organizzative adeguate.</a:t>
              </a:r>
              <a:endParaRPr/>
            </a:p>
            <a:p>
              <a:pPr indent="-317500" lvl="0" marL="457200" rtl="0" algn="l">
                <a:spcBef>
                  <a:spcPts val="300"/>
                </a:spcBef>
                <a:spcAft>
                  <a:spcPts val="300"/>
                </a:spcAft>
                <a:buSzPts val="1400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Valutazione anticipata del rischio.</a:t>
              </a:r>
              <a:endParaRPr/>
            </a:p>
          </p:txBody>
        </p:sp>
      </p:grpSp>
      <p:grpSp>
        <p:nvGrpSpPr>
          <p:cNvPr id="534" name="Google Shape;534;p26"/>
          <p:cNvGrpSpPr/>
          <p:nvPr/>
        </p:nvGrpSpPr>
        <p:grpSpPr>
          <a:xfrm>
            <a:off x="6629400" y="1190625"/>
            <a:ext cx="1905000" cy="3286200"/>
            <a:chOff x="0" y="0"/>
            <a:chExt cx="1905000" cy="3286200"/>
          </a:xfrm>
        </p:grpSpPr>
        <p:sp>
          <p:nvSpPr>
            <p:cNvPr id="535" name="Google Shape;535;p26"/>
            <p:cNvSpPr/>
            <p:nvPr/>
          </p:nvSpPr>
          <p:spPr>
            <a:xfrm>
              <a:off x="0" y="0"/>
              <a:ext cx="1905000" cy="3286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0" y="0"/>
              <a:ext cx="1905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6"/>
            <p:cNvSpPr txBox="1"/>
            <p:nvPr/>
          </p:nvSpPr>
          <p:spPr>
            <a:xfrm>
              <a:off x="133350" y="152400"/>
              <a:ext cx="16383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Privacy by Default</a:t>
              </a:r>
              <a:endParaRPr b="1" sz="120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(Art. 25, par. 2)</a:t>
              </a:r>
              <a:endParaRPr b="0" sz="9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Protezione per </a:t>
              </a:r>
              <a:r>
                <a:rPr b="1" lang="en-US" sz="9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impostazione predefinita</a:t>
              </a: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endParaRPr b="0" sz="9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Trattamento dei soli dati strettamente necessari.</a:t>
              </a:r>
              <a:endParaRPr/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Limitazione di finalità, periodo e accessibilità.</a:t>
              </a:r>
              <a:endParaRPr/>
            </a:p>
            <a:p>
              <a:pPr indent="-317500" lvl="0" marL="457200" rtl="0" algn="l">
                <a:spcBef>
                  <a:spcPts val="300"/>
                </a:spcBef>
                <a:spcAft>
                  <a:spcPts val="300"/>
                </a:spcAft>
                <a:buSzPts val="1400"/>
                <a:buChar char="●"/>
              </a:pPr>
              <a:r>
                <a:rPr b="0" lang="en-US" sz="9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Massima tutela preimpostata per l'utente.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7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Il ruolo del Dirigente Scolastico</a:t>
            </a:r>
            <a:endParaRPr sz="2600"/>
          </a:p>
        </p:txBody>
      </p:sp>
      <p:sp>
        <p:nvSpPr>
          <p:cNvPr id="544" name="Google Shape;544;p27"/>
          <p:cNvSpPr/>
          <p:nvPr/>
        </p:nvSpPr>
        <p:spPr>
          <a:xfrm>
            <a:off x="457200" y="1325880"/>
            <a:ext cx="265170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7"/>
          <p:cNvSpPr txBox="1"/>
          <p:nvPr/>
        </p:nvSpPr>
        <p:spPr>
          <a:xfrm>
            <a:off x="640080" y="1463040"/>
            <a:ext cx="22860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Ruoli e responsabilità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6" name="Google Shape;546;p27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Responsabilità primaria nella governance dei sistemi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Decisioni strategiche e adozione di atti di indirizzo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Monitoraggio continuo dei risultati e DPIA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27"/>
          <p:cNvSpPr txBox="1"/>
          <p:nvPr>
            <p:ph idx="4294967295" type="sldNum"/>
          </p:nvPr>
        </p:nvSpPr>
        <p:spPr>
          <a:xfrm>
            <a:off x="822960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8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9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Il ruolo del DPO</a:t>
            </a:r>
            <a:endParaRPr sz="2600"/>
          </a:p>
        </p:txBody>
      </p:sp>
      <p:sp>
        <p:nvSpPr>
          <p:cNvPr id="560" name="Google Shape;560;p29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9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Ruoli e responsabilità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" name="Google Shape;562;p29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Consulenza specialistica ex art. 37 GDPR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Supporto nella redazione della DPIA e TIA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Verifica della conformità dei trattamenti di dati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3" name="Google Shape;563;p29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Il ruolo del DSGA e Personale ATA</a:t>
            </a:r>
            <a:endParaRPr sz="2600"/>
          </a:p>
        </p:txBody>
      </p:sp>
      <p:sp>
        <p:nvSpPr>
          <p:cNvPr id="570" name="Google Shape;570;p30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0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Ruoli e responsabilità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30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Gestione amministrativa e contabile dei progetti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Utilizzo di chatbot per smistamento richieste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Semplificazione dei processi di back-office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" name="Google Shape;573;p30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Animatore Digitale e Docenti</a:t>
            </a:r>
            <a:endParaRPr sz="2600"/>
          </a:p>
        </p:txBody>
      </p:sp>
      <p:sp>
        <p:nvSpPr>
          <p:cNvPr id="580" name="Google Shape;580;p31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1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Ruoli e responsabilità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" name="Google Shape;582;p31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Animatore: supporto tecnico-operativo alla transizione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Docenti: progettazione della didattica personalizzata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Uso critico e consapevole degli strumenti digitali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" name="Google Shape;583;p31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Verifica Ruoli di Sistema</a:t>
            </a:r>
            <a:endParaRPr sz="2600"/>
          </a:p>
        </p:txBody>
      </p:sp>
      <p:sp>
        <p:nvSpPr>
          <p:cNvPr id="590" name="Google Shape;590;p32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Competenze e responsabilità del personale scolastico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Chi supporta obbligatoriamente il DS nella stesura della DPIA?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" name="Google Shape;592;p32"/>
          <p:cNvSpPr/>
          <p:nvPr/>
        </p:nvSpPr>
        <p:spPr>
          <a:xfrm>
            <a:off x="45720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2"/>
          <p:cNvSpPr txBox="1"/>
          <p:nvPr/>
        </p:nvSpPr>
        <p:spPr>
          <a:xfrm>
            <a:off x="64008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" name="Google Shape;594;p32"/>
          <p:cNvSpPr txBox="1"/>
          <p:nvPr/>
        </p:nvSpPr>
        <p:spPr>
          <a:xfrm>
            <a:off x="64008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Il medico competente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5" name="Google Shape;595;p32"/>
          <p:cNvSpPr/>
          <p:nvPr/>
        </p:nvSpPr>
        <p:spPr>
          <a:xfrm>
            <a:off x="329184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2"/>
          <p:cNvSpPr txBox="1"/>
          <p:nvPr/>
        </p:nvSpPr>
        <p:spPr>
          <a:xfrm>
            <a:off x="347472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" name="Google Shape;597;p32"/>
          <p:cNvSpPr txBox="1"/>
          <p:nvPr/>
        </p:nvSpPr>
        <p:spPr>
          <a:xfrm>
            <a:off x="347472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Il DPO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(Data Protection Officer)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8" name="Google Shape;598;p32"/>
          <p:cNvSpPr/>
          <p:nvPr/>
        </p:nvSpPr>
        <p:spPr>
          <a:xfrm>
            <a:off x="612648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2"/>
          <p:cNvSpPr txBox="1"/>
          <p:nvPr/>
        </p:nvSpPr>
        <p:spPr>
          <a:xfrm>
            <a:off x="630936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" name="Google Shape;600;p32"/>
          <p:cNvSpPr txBox="1"/>
          <p:nvPr/>
        </p:nvSpPr>
        <p:spPr>
          <a:xfrm>
            <a:off x="630936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Il rappresentante sindacale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" name="Google Shape;601;p32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3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Principi etici dell'IA a scuola</a:t>
            </a:r>
            <a:endParaRPr sz="2600"/>
          </a:p>
        </p:txBody>
      </p:sp>
      <p:sp>
        <p:nvSpPr>
          <p:cNvPr id="608" name="Google Shape;608;p33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3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Principi e rischi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0" name="Google Shape;610;p33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Intervento e sorveglianza umana obbligatoria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Trasparenza, spiegabilità e robustezza tecnologica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Criteri rigorosi per evitare bias e discriminazioni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1" name="Google Shape;611;p33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Classificazione dei rischi IA</a:t>
            </a:r>
            <a:endParaRPr sz="2600"/>
          </a:p>
        </p:txBody>
      </p:sp>
      <p:sp>
        <p:nvSpPr>
          <p:cNvPr id="618" name="Google Shape;618;p34"/>
          <p:cNvSpPr/>
          <p:nvPr/>
        </p:nvSpPr>
        <p:spPr>
          <a:xfrm>
            <a:off x="1371600" y="1325880"/>
            <a:ext cx="73152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4"/>
          <p:cNvSpPr/>
          <p:nvPr/>
        </p:nvSpPr>
        <p:spPr>
          <a:xfrm>
            <a:off x="457200" y="1417320"/>
            <a:ext cx="731520" cy="731520"/>
          </a:xfrm>
          <a:prstGeom prst="ellipse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4"/>
          <p:cNvSpPr txBox="1"/>
          <p:nvPr/>
        </p:nvSpPr>
        <p:spPr>
          <a:xfrm>
            <a:off x="457200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" name="Google Shape;621;p34"/>
          <p:cNvSpPr txBox="1"/>
          <p:nvPr/>
        </p:nvSpPr>
        <p:spPr>
          <a:xfrm>
            <a:off x="1554480" y="132588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Sistemi ad alto rischio nell'istruzione (Art. 6 AI Act)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" name="Google Shape;622;p34"/>
          <p:cNvSpPr/>
          <p:nvPr/>
        </p:nvSpPr>
        <p:spPr>
          <a:xfrm>
            <a:off x="1371600" y="2423160"/>
            <a:ext cx="73152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4"/>
          <p:cNvSpPr/>
          <p:nvPr/>
        </p:nvSpPr>
        <p:spPr>
          <a:xfrm>
            <a:off x="457200" y="2514600"/>
            <a:ext cx="731520" cy="731520"/>
          </a:xfrm>
          <a:prstGeom prst="ellipse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4"/>
          <p:cNvSpPr txBox="1"/>
          <p:nvPr/>
        </p:nvSpPr>
        <p:spPr>
          <a:xfrm>
            <a:off x="457200" y="2514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" name="Google Shape;625;p34"/>
          <p:cNvSpPr txBox="1"/>
          <p:nvPr/>
        </p:nvSpPr>
        <p:spPr>
          <a:xfrm>
            <a:off x="1554480" y="242316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Valutazione dell'accesso, ammissione e valutazione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" name="Google Shape;626;p34"/>
          <p:cNvSpPr/>
          <p:nvPr/>
        </p:nvSpPr>
        <p:spPr>
          <a:xfrm>
            <a:off x="1371600" y="3520440"/>
            <a:ext cx="73152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4"/>
          <p:cNvSpPr/>
          <p:nvPr/>
        </p:nvSpPr>
        <p:spPr>
          <a:xfrm>
            <a:off x="457200" y="3611880"/>
            <a:ext cx="731520" cy="731520"/>
          </a:xfrm>
          <a:prstGeom prst="ellipse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457200" y="3611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9" name="Google Shape;629;p34"/>
          <p:cNvSpPr txBox="1"/>
          <p:nvPr/>
        </p:nvSpPr>
        <p:spPr>
          <a:xfrm>
            <a:off x="1554480" y="352044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Obbligo di misure di mitigazione e DPIA/FRIA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0" name="Google Shape;630;p34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5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Privacy by Design e Default</a:t>
            </a:r>
            <a:endParaRPr sz="2600"/>
          </a:p>
        </p:txBody>
      </p:sp>
      <p:sp>
        <p:nvSpPr>
          <p:cNvPr id="637" name="Google Shape;637;p35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5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Principi e rischi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" name="Google Shape;639;p35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Trattamento basato su finalità specifiche e legittime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Minimizzazione dei dati personali trattati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Adozione di configurazioni orientate alla privacy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5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Gestione dei dati e PET</a:t>
            </a:r>
            <a:endParaRPr sz="2600"/>
          </a:p>
        </p:txBody>
      </p:sp>
      <p:sp>
        <p:nvSpPr>
          <p:cNvPr id="647" name="Google Shape;647;p36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6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Principi e rischi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" name="Google Shape;649;p36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Uso di ambienti controllati in ambito scolastico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Generazione di dataset sintetici ove possibile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Ricorso a Privacy-Enhancing Technologies (PET)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0" name="Google Shape;650;p36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7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Verifica Requisiti Tecnici</a:t>
            </a:r>
            <a:endParaRPr sz="2600"/>
          </a:p>
        </p:txBody>
      </p:sp>
      <p:sp>
        <p:nvSpPr>
          <p:cNvPr id="657" name="Google Shape;657;p3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Misure di protezione e privacy by design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" name="Google Shape;658;p37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Cosa sono le PET (Privacy-Enhancing Technologies)?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" name="Google Shape;659;p37"/>
          <p:cNvSpPr/>
          <p:nvPr/>
        </p:nvSpPr>
        <p:spPr>
          <a:xfrm>
            <a:off x="45720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7"/>
          <p:cNvSpPr txBox="1"/>
          <p:nvPr/>
        </p:nvSpPr>
        <p:spPr>
          <a:xfrm>
            <a:off x="64008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p37"/>
          <p:cNvSpPr txBox="1"/>
          <p:nvPr/>
        </p:nvSpPr>
        <p:spPr>
          <a:xfrm>
            <a:off x="64008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Software di videoconferenza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329184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7"/>
          <p:cNvSpPr txBox="1"/>
          <p:nvPr/>
        </p:nvSpPr>
        <p:spPr>
          <a:xfrm>
            <a:off x="347472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37"/>
          <p:cNvSpPr txBox="1"/>
          <p:nvPr/>
        </p:nvSpPr>
        <p:spPr>
          <a:xfrm>
            <a:off x="347472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Soluzioni digitali per proteggere la privacy dei dati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5" name="Google Shape;665;p37"/>
          <p:cNvSpPr/>
          <p:nvPr/>
        </p:nvSpPr>
        <p:spPr>
          <a:xfrm>
            <a:off x="612648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7"/>
          <p:cNvSpPr txBox="1"/>
          <p:nvPr/>
        </p:nvSpPr>
        <p:spPr>
          <a:xfrm>
            <a:off x="630936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7" name="Google Shape;667;p37"/>
          <p:cNvSpPr txBox="1"/>
          <p:nvPr/>
        </p:nvSpPr>
        <p:spPr>
          <a:xfrm>
            <a:off x="630936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Registri elettronici ministeriali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8" name="Google Shape;668;p37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8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Il diritto di non partecipazione</a:t>
            </a:r>
            <a:endParaRPr sz="2600"/>
          </a:p>
        </p:txBody>
      </p:sp>
      <p:sp>
        <p:nvSpPr>
          <p:cNvPr id="675" name="Google Shape;675;p38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8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Privacy e adempimenti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" name="Google Shape;677;p38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Scelta consapevole di studenti e famiglie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Moduli standardizzati e tempi certi di gestione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Divieto di limitazioni nell'accesso alla didattica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8" name="Google Shape;678;p38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9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Configurazione sicura dei prompt</a:t>
            </a:r>
            <a:endParaRPr sz="2600"/>
          </a:p>
        </p:txBody>
      </p:sp>
      <p:sp>
        <p:nvSpPr>
          <p:cNvPr id="685" name="Google Shape;685;p39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9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Privacy e adempimenti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7" name="Google Shape;687;p39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Inserimento di prompt senza dati identificativi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Disattivazione della cronologia e profilazione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Prevenzione assoluta del tracciamento individuale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8" name="Google Shape;688;p39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Accordi con i fornitori (Deployer)</a:t>
            </a:r>
            <a:endParaRPr sz="2600"/>
          </a:p>
        </p:txBody>
      </p:sp>
      <p:sp>
        <p:nvSpPr>
          <p:cNvPr id="695" name="Google Shape;695;p40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0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Privacy e adempimenti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40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Scuola come deployer ai sensi dell'AI Act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Contratti conformi all'articolo 28 del GDPR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Definizione chiara di assistenza e SLA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8" name="Google Shape;698;p40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Valutazione d'Impatto (DPIA e FRIA)</a:t>
            </a:r>
            <a:endParaRPr sz="2600"/>
          </a:p>
        </p:txBody>
      </p:sp>
      <p:sp>
        <p:nvSpPr>
          <p:cNvPr id="705" name="Google Shape;705;p41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1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Privacy e adempimenti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7" name="Google Shape;707;p41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Obbligo di DPIA ex art. 35 GDPR prima dei trattamenti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Integrazione con la valutazione d'impatto sui diritti (FRIA)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Eventuale consultazione preventiva del Garante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" name="Google Shape;708;p41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Verifica Adempimenti Privacy</a:t>
            </a:r>
            <a:endParaRPr sz="2600"/>
          </a:p>
        </p:txBody>
      </p:sp>
      <p:sp>
        <p:nvSpPr>
          <p:cNvPr id="715" name="Google Shape;715;p42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DPIA, accordi fornitori e diritti degli interessati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6" name="Google Shape;716;p42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Quale articolo del GDPR disciplina i responsabili del trattamento?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7" name="Google Shape;717;p42"/>
          <p:cNvSpPr/>
          <p:nvPr/>
        </p:nvSpPr>
        <p:spPr>
          <a:xfrm>
            <a:off x="45720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42"/>
          <p:cNvSpPr txBox="1"/>
          <p:nvPr/>
        </p:nvSpPr>
        <p:spPr>
          <a:xfrm>
            <a:off x="64008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" name="Google Shape;719;p42"/>
          <p:cNvSpPr txBox="1"/>
          <p:nvPr/>
        </p:nvSpPr>
        <p:spPr>
          <a:xfrm>
            <a:off x="64008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Articolo 13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0" name="Google Shape;720;p42"/>
          <p:cNvSpPr/>
          <p:nvPr/>
        </p:nvSpPr>
        <p:spPr>
          <a:xfrm>
            <a:off x="329184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2"/>
          <p:cNvSpPr txBox="1"/>
          <p:nvPr/>
        </p:nvSpPr>
        <p:spPr>
          <a:xfrm>
            <a:off x="347472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2" name="Google Shape;722;p42"/>
          <p:cNvSpPr txBox="1"/>
          <p:nvPr/>
        </p:nvSpPr>
        <p:spPr>
          <a:xfrm>
            <a:off x="347472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Articolo 28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3" name="Google Shape;723;p42"/>
          <p:cNvSpPr/>
          <p:nvPr/>
        </p:nvSpPr>
        <p:spPr>
          <a:xfrm>
            <a:off x="612648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2"/>
          <p:cNvSpPr txBox="1"/>
          <p:nvPr/>
        </p:nvSpPr>
        <p:spPr>
          <a:xfrm>
            <a:off x="630936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" name="Google Shape;725;p42"/>
          <p:cNvSpPr txBox="1"/>
          <p:nvPr/>
        </p:nvSpPr>
        <p:spPr>
          <a:xfrm>
            <a:off x="630936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Articolo 35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6" name="Google Shape;726;p42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3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Il percorso: Fase 1 (Definizione)</a:t>
            </a:r>
            <a:endParaRPr sz="2600"/>
          </a:p>
        </p:txBody>
      </p:sp>
      <p:sp>
        <p:nvSpPr>
          <p:cNvPr id="733" name="Google Shape;733;p43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3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Percorso di adozione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5" name="Google Shape;735;p43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Analisi della maturità digitale dell'istituzione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Individuazione dei bisogni e delle aree strategiche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Coinvolgimento degli organi collegiali e del PTOF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6" name="Google Shape;736;p43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Il percorso: Fase 2 (Pianificazione)</a:t>
            </a:r>
            <a:endParaRPr sz="2600"/>
          </a:p>
        </p:txBody>
      </p:sp>
      <p:sp>
        <p:nvSpPr>
          <p:cNvPr id="743" name="Google Shape;743;p44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4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Percorso di adozione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5" name="Google Shape;745;p44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Redazione di un dettagliato piano di progetto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Analisi dei rischi con metodologia HUDERIA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Pianificazione di milestone, costi e ruoli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6" name="Google Shape;746;p44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5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Il percorso: Fase 3 (Adozione)</a:t>
            </a:r>
            <a:endParaRPr sz="2600"/>
          </a:p>
        </p:txBody>
      </p:sp>
      <p:sp>
        <p:nvSpPr>
          <p:cNvPr id="753" name="Google Shape;753;p45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5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Percorso di adozione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5" name="Google Shape;755;p45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Implementazione graduale del sistema di IA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Avvio di percorsi di formazione mirata del personale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Integrazione con la Piattaforma Unica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6" name="Google Shape;756;p45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Il percorso: Fase 4 e 5 (Monitoraggio)</a:t>
            </a:r>
            <a:endParaRPr sz="2600"/>
          </a:p>
        </p:txBody>
      </p:sp>
      <p:sp>
        <p:nvSpPr>
          <p:cNvPr id="763" name="Google Shape;763;p46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6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Percorso di adozione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5" name="Google Shape;765;p46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Monitoraggio continuo dei risultati e dei sistemi ibridi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Censimento delle sperimentazioni su Piattaforma Unica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Aggiornamento periodico e manutenzione reti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6" name="Google Shape;766;p46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7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Verifica Processo di Adozione</a:t>
            </a:r>
            <a:endParaRPr sz="2600"/>
          </a:p>
        </p:txBody>
      </p:sp>
      <p:sp>
        <p:nvSpPr>
          <p:cNvPr id="773" name="Google Shape;773;p4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Fasi metodologiche per l'introduzione dell'IA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4" name="Google Shape;774;p47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Qual è la prima fase del modello metodologico proposto?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5" name="Google Shape;775;p47"/>
          <p:cNvSpPr/>
          <p:nvPr/>
        </p:nvSpPr>
        <p:spPr>
          <a:xfrm>
            <a:off x="45720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7"/>
          <p:cNvSpPr txBox="1"/>
          <p:nvPr/>
        </p:nvSpPr>
        <p:spPr>
          <a:xfrm>
            <a:off x="64008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7" name="Google Shape;777;p47"/>
          <p:cNvSpPr txBox="1"/>
          <p:nvPr/>
        </p:nvSpPr>
        <p:spPr>
          <a:xfrm>
            <a:off x="64008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Adozione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8" name="Google Shape;778;p47"/>
          <p:cNvSpPr/>
          <p:nvPr/>
        </p:nvSpPr>
        <p:spPr>
          <a:xfrm>
            <a:off x="329184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47"/>
          <p:cNvSpPr txBox="1"/>
          <p:nvPr/>
        </p:nvSpPr>
        <p:spPr>
          <a:xfrm>
            <a:off x="347472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0" name="Google Shape;780;p47"/>
          <p:cNvSpPr txBox="1"/>
          <p:nvPr/>
        </p:nvSpPr>
        <p:spPr>
          <a:xfrm>
            <a:off x="347472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Definizione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1" name="Google Shape;781;p47"/>
          <p:cNvSpPr/>
          <p:nvPr/>
        </p:nvSpPr>
        <p:spPr>
          <a:xfrm>
            <a:off x="612648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47"/>
          <p:cNvSpPr txBox="1"/>
          <p:nvPr/>
        </p:nvSpPr>
        <p:spPr>
          <a:xfrm>
            <a:off x="630936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3" name="Google Shape;783;p47"/>
          <p:cNvSpPr txBox="1"/>
          <p:nvPr/>
        </p:nvSpPr>
        <p:spPr>
          <a:xfrm>
            <a:off x="630936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Monitoraggio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4" name="Google Shape;784;p47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8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Caso studio: Compiti a casa con IA</a:t>
            </a:r>
            <a:endParaRPr sz="2600"/>
          </a:p>
        </p:txBody>
      </p:sp>
      <p:sp>
        <p:nvSpPr>
          <p:cNvPr id="791" name="Google Shape;791;p48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48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Casi studio e governance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3" name="Google Shape;793;p48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Assegnazione di elaborati tramite strumenti di IA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Divieto di inserire dati personali nei prompt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Sviluppo del pensiero critico contro le allucinazioni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4" name="Google Shape;794;p48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9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Caso studio: Attività in classe</a:t>
            </a:r>
            <a:endParaRPr sz="2600"/>
          </a:p>
        </p:txBody>
      </p:sp>
      <p:sp>
        <p:nvSpPr>
          <p:cNvPr id="801" name="Google Shape;801;p49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49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Casi studio e governance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3" name="Google Shape;803;p49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Didattica attiva e content curation con supporto IA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Rispetto tassativo del divieto di sentiment analysis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Mantenimento centrale dell'interazione umana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4" name="Google Shape;804;p49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Caso studio: Correzione dei compiti</a:t>
            </a:r>
            <a:endParaRPr sz="2600"/>
          </a:p>
        </p:txBody>
      </p:sp>
      <p:sp>
        <p:nvSpPr>
          <p:cNvPr id="811" name="Google Shape;811;p50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0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Casi studio e governance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3" name="Google Shape;813;p50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Utilizzo dell'IA come supporto alla valutazione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Garanzia inderogabile di supervisione umana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Esclusione di decisioni automatizzate senza vaglio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4" name="Google Shape;814;p50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Governance e Piattaforma Unica</a:t>
            </a:r>
            <a:endParaRPr sz="2600"/>
          </a:p>
        </p:txBody>
      </p:sp>
      <p:sp>
        <p:nvSpPr>
          <p:cNvPr id="821" name="Google Shape;821;p51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2F5D8A"/>
          </a:solidFill>
          <a:ln cap="flat" cmpd="sng" w="9525">
            <a:solidFill>
              <a:srgbClr val="2F5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51"/>
          <p:cNvSpPr txBox="1"/>
          <p:nvPr/>
        </p:nvSpPr>
        <p:spPr>
          <a:xfrm>
            <a:off x="640080" y="1463040"/>
            <a:ext cx="2286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Casi studio e governance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3" name="Google Shape;823;p51"/>
          <p:cNvSpPr txBox="1"/>
          <p:nvPr/>
        </p:nvSpPr>
        <p:spPr>
          <a:xfrm>
            <a:off x="3429000" y="1325880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Censimento dei progetti tramite 'Scheda progetto IA'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Accesso a linee guida interattive e checklist operative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Lato"/>
              <a:buChar char="•"/>
            </a:pPr>
            <a:r>
              <a:rPr b="0" i="0" lang="en-US" sz="20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Monitoraggio ministeriale tramite apposita Dashboard</a:t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4" name="Google Shape;824;p51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erriweather"/>
              <a:buNone/>
            </a:pPr>
            <a:r>
              <a:rPr b="1" lang="en-US" sz="2600">
                <a:solidFill>
                  <a:srgbClr val="1F2937"/>
                </a:solidFill>
              </a:rPr>
              <a:t>Test Finale di Sintesi</a:t>
            </a:r>
            <a:endParaRPr sz="2600"/>
          </a:p>
        </p:txBody>
      </p:sp>
      <p:sp>
        <p:nvSpPr>
          <p:cNvPr id="831" name="Google Shape;831;p52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Lato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Riepilogo generale delle Linee guida e ruoli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2" name="Google Shape;832;p52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Lato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Quale piattaforma nazionale gestisce il censimento delle sperimentazioni?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3" name="Google Shape;833;p52"/>
          <p:cNvSpPr/>
          <p:nvPr/>
        </p:nvSpPr>
        <p:spPr>
          <a:xfrm>
            <a:off x="45720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2"/>
          <p:cNvSpPr txBox="1"/>
          <p:nvPr/>
        </p:nvSpPr>
        <p:spPr>
          <a:xfrm>
            <a:off x="64008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5" name="Google Shape;835;p52"/>
          <p:cNvSpPr txBox="1"/>
          <p:nvPr/>
        </p:nvSpPr>
        <p:spPr>
          <a:xfrm>
            <a:off x="64008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Argo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6" name="Google Shape;836;p52"/>
          <p:cNvSpPr/>
          <p:nvPr/>
        </p:nvSpPr>
        <p:spPr>
          <a:xfrm>
            <a:off x="329184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52"/>
          <p:cNvSpPr txBox="1"/>
          <p:nvPr/>
        </p:nvSpPr>
        <p:spPr>
          <a:xfrm>
            <a:off x="347472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8" name="Google Shape;838;p52"/>
          <p:cNvSpPr txBox="1"/>
          <p:nvPr/>
        </p:nvSpPr>
        <p:spPr>
          <a:xfrm>
            <a:off x="347472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Piattaforma Unica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(unica.istruzione.gov.it)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9" name="Google Shape;839;p52"/>
          <p:cNvSpPr/>
          <p:nvPr/>
        </p:nvSpPr>
        <p:spPr>
          <a:xfrm>
            <a:off x="6126480" y="260604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2"/>
          <p:cNvSpPr txBox="1"/>
          <p:nvPr/>
        </p:nvSpPr>
        <p:spPr>
          <a:xfrm>
            <a:off x="6309360" y="26974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8A"/>
              </a:buClr>
              <a:buSzPts val="2600"/>
              <a:buFont typeface="Lato"/>
              <a:buNone/>
            </a:pPr>
            <a:r>
              <a:rPr b="1" i="0" lang="en-US" sz="2600" u="none" cap="none" strike="noStrike">
                <a:solidFill>
                  <a:srgbClr val="2F5D8A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b="0" i="0" sz="2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1" name="Google Shape;841;p52"/>
          <p:cNvSpPr txBox="1"/>
          <p:nvPr/>
        </p:nvSpPr>
        <p:spPr>
          <a:xfrm>
            <a:off x="6309360" y="320040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SIDI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2" name="Google Shape;842;p52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000" u="none" cap="none" strike="noStrike">
              <a:solidFill>
                <a:srgbClr val="6B728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nee guida IA">
  <a:themeElements>
    <a:clrScheme name="Linee guida IA">
      <a:dk1>
        <a:srgbClr val="1F2937"/>
      </a:dk1>
      <a:lt1>
        <a:srgbClr val="FAFAFA"/>
      </a:lt1>
      <a:dk2>
        <a:srgbClr val="1F3A5F"/>
      </a:dk2>
      <a:lt2>
        <a:srgbClr val="EAF0F6"/>
      </a:lt2>
      <a:accent1>
        <a:srgbClr val="2F5D8A"/>
      </a:accent1>
      <a:accent2>
        <a:srgbClr val="4F7F6B"/>
      </a:accent2>
      <a:accent3>
        <a:srgbClr val="8AA4BF"/>
      </a:accent3>
      <a:accent4>
        <a:srgbClr val="B08D57"/>
      </a:accent4>
      <a:accent5>
        <a:srgbClr val="6B7280"/>
      </a:accent5>
      <a:accent6>
        <a:srgbClr val="A94F4F"/>
      </a:accent6>
      <a:hlink>
        <a:srgbClr val="2F5D8A"/>
      </a:hlink>
      <a:folHlink>
        <a:srgbClr val="6B72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inee guida IA">
  <a:themeElements>
    <a:clrScheme name="Linee guida IA">
      <a:dk1>
        <a:srgbClr val="1F2937"/>
      </a:dk1>
      <a:lt1>
        <a:srgbClr val="FAFAFA"/>
      </a:lt1>
      <a:dk2>
        <a:srgbClr val="1F3A5F"/>
      </a:dk2>
      <a:lt2>
        <a:srgbClr val="EAF0F6"/>
      </a:lt2>
      <a:accent1>
        <a:srgbClr val="2F5D8A"/>
      </a:accent1>
      <a:accent2>
        <a:srgbClr val="4F7F6B"/>
      </a:accent2>
      <a:accent3>
        <a:srgbClr val="8AA4BF"/>
      </a:accent3>
      <a:accent4>
        <a:srgbClr val="B08D57"/>
      </a:accent4>
      <a:accent5>
        <a:srgbClr val="6B7280"/>
      </a:accent5>
      <a:accent6>
        <a:srgbClr val="A94F4F"/>
      </a:accent6>
      <a:hlink>
        <a:srgbClr val="2F5D8A"/>
      </a:hlink>
      <a:folHlink>
        <a:srgbClr val="6B72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